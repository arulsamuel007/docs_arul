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Freeform: Shape 164">
            <a:extLst>
              <a:ext uri="{FF2B5EF4-FFF2-40B4-BE49-F238E27FC236}">
                <a16:creationId xmlns:a16="http://schemas.microsoft.com/office/drawing/2014/main" id="{DDD571D4-1337-336F-4890-3D08779472CF}"/>
              </a:ext>
            </a:extLst>
          </p:cNvPr>
          <p:cNvSpPr/>
          <p:nvPr/>
        </p:nvSpPr>
        <p:spPr>
          <a:xfrm>
            <a:off x="1920240" y="1261872"/>
            <a:ext cx="8668512" cy="4646168"/>
          </a:xfrm>
          <a:custGeom>
            <a:avLst/>
            <a:gdLst>
              <a:gd name="csX0" fmla="*/ 139639 w 8668512"/>
              <a:gd name="csY0" fmla="*/ 0 h 4646168"/>
              <a:gd name="csX1" fmla="*/ 8528873 w 8668512"/>
              <a:gd name="csY1" fmla="*/ 0 h 4646168"/>
              <a:gd name="csX2" fmla="*/ 8668512 w 8668512"/>
              <a:gd name="csY2" fmla="*/ 139639 h 4646168"/>
              <a:gd name="csX3" fmla="*/ 8668512 w 8668512"/>
              <a:gd name="csY3" fmla="*/ 2292665 h 4646168"/>
              <a:gd name="csX4" fmla="*/ 8528873 w 8668512"/>
              <a:gd name="csY4" fmla="*/ 2432304 h 4646168"/>
              <a:gd name="csX5" fmla="*/ 6510529 w 8668512"/>
              <a:gd name="csY5" fmla="*/ 2432304 h 4646168"/>
              <a:gd name="csX6" fmla="*/ 6510529 w 8668512"/>
              <a:gd name="csY6" fmla="*/ 4646168 h 4646168"/>
              <a:gd name="csX7" fmla="*/ 1545335 w 8668512"/>
              <a:gd name="csY7" fmla="*/ 4646168 h 4646168"/>
              <a:gd name="csX8" fmla="*/ 1545335 w 8668512"/>
              <a:gd name="csY8" fmla="*/ 2432304 h 4646168"/>
              <a:gd name="csX9" fmla="*/ 139639 w 8668512"/>
              <a:gd name="csY9" fmla="*/ 2432304 h 4646168"/>
              <a:gd name="csX10" fmla="*/ 0 w 8668512"/>
              <a:gd name="csY10" fmla="*/ 2292665 h 4646168"/>
              <a:gd name="csX11" fmla="*/ 0 w 8668512"/>
              <a:gd name="csY11" fmla="*/ 139639 h 4646168"/>
              <a:gd name="csX12" fmla="*/ 139639 w 8668512"/>
              <a:gd name="csY12" fmla="*/ 0 h 46461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8668512" h="4646168">
                <a:moveTo>
                  <a:pt x="139639" y="0"/>
                </a:moveTo>
                <a:lnTo>
                  <a:pt x="8528873" y="0"/>
                </a:lnTo>
                <a:cubicBezTo>
                  <a:pt x="8605993" y="0"/>
                  <a:pt x="8668512" y="62519"/>
                  <a:pt x="8668512" y="139639"/>
                </a:cubicBezTo>
                <a:lnTo>
                  <a:pt x="8668512" y="2292665"/>
                </a:lnTo>
                <a:cubicBezTo>
                  <a:pt x="8668512" y="2369785"/>
                  <a:pt x="8605993" y="2432304"/>
                  <a:pt x="8528873" y="2432304"/>
                </a:cubicBezTo>
                <a:lnTo>
                  <a:pt x="6510529" y="2432304"/>
                </a:lnTo>
                <a:lnTo>
                  <a:pt x="6510529" y="4646168"/>
                </a:lnTo>
                <a:lnTo>
                  <a:pt x="1545335" y="4646168"/>
                </a:lnTo>
                <a:lnTo>
                  <a:pt x="1545335" y="2432304"/>
                </a:lnTo>
                <a:lnTo>
                  <a:pt x="139639" y="2432304"/>
                </a:lnTo>
                <a:cubicBezTo>
                  <a:pt x="62519" y="2432304"/>
                  <a:pt x="0" y="2369785"/>
                  <a:pt x="0" y="2292665"/>
                </a:cubicBezTo>
                <a:lnTo>
                  <a:pt x="0" y="139639"/>
                </a:lnTo>
                <a:cubicBezTo>
                  <a:pt x="0" y="62519"/>
                  <a:pt x="62519" y="0"/>
                  <a:pt x="139639" y="0"/>
                </a:cubicBezTo>
                <a:close/>
              </a:path>
            </a:pathLst>
          </a:custGeom>
          <a:solidFill>
            <a:srgbClr val="5E838F"/>
          </a:solidFill>
          <a:ln>
            <a:solidFill>
              <a:srgbClr val="5E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310896" y="173736"/>
            <a:ext cx="8869680" cy="50292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/>
            <a:r>
              <a:rPr sz="3200" b="0">
                <a:solidFill>
                  <a:srgbClr val="142F37"/>
                </a:solidFill>
                <a:latin typeface="Aptos Display"/>
              </a:rPr>
              <a:t>Databricks Data Intelligence Platform on GCP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1329416" y="219456"/>
            <a:ext cx="91440" cy="128016"/>
          </a:xfrm>
          <a:prstGeom prst="line">
            <a:avLst/>
          </a:prstGeom>
          <a:ln w="508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1411712" y="164592"/>
            <a:ext cx="146304" cy="54864"/>
          </a:xfrm>
          <a:prstGeom prst="line">
            <a:avLst/>
          </a:prstGeom>
          <a:ln w="508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558016" y="164592"/>
            <a:ext cx="182880" cy="128016"/>
          </a:xfrm>
          <a:prstGeom prst="line">
            <a:avLst/>
          </a:prstGeom>
          <a:ln w="508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356848" y="429768"/>
            <a:ext cx="393192" cy="0"/>
          </a:xfrm>
          <a:prstGeom prst="line">
            <a:avLst/>
          </a:prstGeom>
          <a:ln w="50800">
            <a:solidFill>
              <a:srgbClr val="FBBC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83696" y="457200"/>
            <a:ext cx="621792" cy="1828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600" b="0">
                <a:solidFill>
                  <a:srgbClr val="3C3C3C"/>
                </a:solidFill>
                <a:latin typeface="Aptos"/>
              </a:rPr>
              <a:t>Google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896112"/>
            <a:ext cx="1225296" cy="274320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1200" b="1">
                <a:solidFill>
                  <a:srgbClr val="414141"/>
                </a:solidFill>
                <a:latin typeface="Aptos"/>
              </a:rPr>
              <a:t>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911095" y="896112"/>
            <a:ext cx="1426464" cy="274320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1200" b="1">
                <a:solidFill>
                  <a:srgbClr val="414141"/>
                </a:solidFill>
                <a:latin typeface="Aptos"/>
              </a:rPr>
              <a:t>Ingest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1568" y="896112"/>
            <a:ext cx="1554480" cy="274320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1200" b="1">
                <a:solidFill>
                  <a:srgbClr val="414141"/>
                </a:solidFill>
                <a:latin typeface="Aptos"/>
              </a:rPr>
              <a:t>Transform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10912" y="896112"/>
            <a:ext cx="1938528" cy="274320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1200" b="1">
                <a:solidFill>
                  <a:srgbClr val="414141"/>
                </a:solidFill>
                <a:latin typeface="Aptos"/>
              </a:rPr>
              <a:t>Query / Process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896112"/>
            <a:ext cx="2286000" cy="274320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1200" b="1">
                <a:solidFill>
                  <a:srgbClr val="414141"/>
                </a:solidFill>
                <a:latin typeface="Aptos"/>
              </a:rPr>
              <a:t>Serve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81744" y="896112"/>
            <a:ext cx="1225296" cy="274320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1200" b="1">
                <a:solidFill>
                  <a:srgbClr val="414141"/>
                </a:solidFill>
                <a:latin typeface="Aptos"/>
              </a:rPr>
              <a:t>Analyse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36224" y="896112"/>
            <a:ext cx="1005840" cy="274320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1200" b="1">
                <a:solidFill>
                  <a:srgbClr val="414141"/>
                </a:solidFill>
                <a:latin typeface="Aptos"/>
              </a:rPr>
              <a:t>Integrate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1325880"/>
            <a:ext cx="2377440" cy="20116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▱ Data Intelligence Platform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1261872"/>
            <a:ext cx="1033271" cy="3675887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91A5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1389888"/>
            <a:ext cx="201168" cy="1645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500" b="0">
                <a:solidFill>
                  <a:srgbClr val="1C4552"/>
                </a:solidFill>
                <a:latin typeface="Aptos"/>
              </a:rPr>
              <a:t>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1600200"/>
            <a:ext cx="868680" cy="29260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880" b="0">
                <a:solidFill>
                  <a:srgbClr val="1C4552"/>
                </a:solidFill>
                <a:latin typeface="Aptos"/>
              </a:rPr>
              <a:t>Files / Logs</a:t>
            </a:r>
          </a:p>
          <a:p>
            <a:pPr algn="ctr"/>
            <a:r>
              <a:rPr sz="880" b="0">
                <a:solidFill>
                  <a:srgbClr val="1C4552"/>
                </a:solidFill>
                <a:latin typeface="Aptos"/>
              </a:rPr>
              <a:t>(semi-structured)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002536"/>
            <a:ext cx="201168" cy="1645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500" b="0">
                <a:solidFill>
                  <a:srgbClr val="1C4552"/>
                </a:solidFill>
                <a:latin typeface="Aptos"/>
              </a:rPr>
              <a:t>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2212848"/>
            <a:ext cx="868680" cy="29260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880" b="0">
                <a:solidFill>
                  <a:srgbClr val="1C4552"/>
                </a:solidFill>
                <a:latin typeface="Aptos"/>
              </a:rPr>
              <a:t>Sensors and IoT</a:t>
            </a:r>
          </a:p>
          <a:p>
            <a:pPr algn="ctr"/>
            <a:r>
              <a:rPr sz="880" b="0">
                <a:solidFill>
                  <a:srgbClr val="1C4552"/>
                </a:solidFill>
                <a:latin typeface="Aptos"/>
              </a:rPr>
              <a:t>(unstructured)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2615184"/>
            <a:ext cx="201168" cy="1645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500" b="0">
                <a:solidFill>
                  <a:srgbClr val="1C4552"/>
                </a:solidFill>
                <a:latin typeface="Aptos"/>
              </a:rPr>
              <a:t>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2825496"/>
            <a:ext cx="868680" cy="29260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880" b="0">
                <a:solidFill>
                  <a:srgbClr val="1C4552"/>
                </a:solidFill>
                <a:latin typeface="Aptos"/>
              </a:rPr>
              <a:t>RDBMS</a:t>
            </a:r>
          </a:p>
          <a:p>
            <a:pPr algn="ctr"/>
            <a:r>
              <a:rPr sz="880" b="0">
                <a:solidFill>
                  <a:srgbClr val="1C4552"/>
                </a:solidFill>
                <a:latin typeface="Aptos"/>
              </a:rPr>
              <a:t>(structured)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3227832"/>
            <a:ext cx="201168" cy="1645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500" b="0">
                <a:solidFill>
                  <a:srgbClr val="1C4552"/>
                </a:solidFill>
                <a:latin typeface="Aptos"/>
              </a:rPr>
              <a:t>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438144"/>
            <a:ext cx="868680" cy="29260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880" b="0">
                <a:solidFill>
                  <a:srgbClr val="1C4552"/>
                </a:solidFill>
                <a:latin typeface="Aptos"/>
              </a:rPr>
              <a:t>Business Apps</a:t>
            </a:r>
          </a:p>
          <a:p>
            <a:pPr algn="ctr"/>
            <a:r>
              <a:rPr sz="880" b="0">
                <a:solidFill>
                  <a:srgbClr val="1C4552"/>
                </a:solidFill>
                <a:latin typeface="Aptos"/>
              </a:rPr>
              <a:t>(structured)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3840480"/>
            <a:ext cx="201168" cy="1645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500" b="0">
                <a:solidFill>
                  <a:srgbClr val="1C4552"/>
                </a:solidFill>
                <a:latin typeface="Aptos"/>
              </a:rPr>
              <a:t>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4050792"/>
            <a:ext cx="868680" cy="29260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880" b="0">
                <a:solidFill>
                  <a:srgbClr val="1C4552"/>
                </a:solidFill>
                <a:latin typeface="Aptos"/>
              </a:rPr>
              <a:t>Media</a:t>
            </a:r>
          </a:p>
          <a:p>
            <a:pPr algn="ctr"/>
            <a:r>
              <a:rPr sz="880" b="0">
                <a:solidFill>
                  <a:srgbClr val="1C4552"/>
                </a:solidFill>
                <a:latin typeface="Aptos"/>
              </a:rPr>
              <a:t>(unstructured)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453128"/>
            <a:ext cx="201168" cy="1645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500" b="0">
                <a:solidFill>
                  <a:srgbClr val="1C4552"/>
                </a:solidFill>
                <a:latin typeface="Aptos"/>
              </a:rPr>
              <a:t>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4663440"/>
            <a:ext cx="868680" cy="29260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880" b="0">
                <a:solidFill>
                  <a:srgbClr val="1C4552"/>
                </a:solidFill>
                <a:latin typeface="Aptos"/>
              </a:rPr>
              <a:t>Other clouds</a:t>
            </a:r>
          </a:p>
        </p:txBody>
      </p:sp>
      <p:sp>
        <p:nvSpPr>
          <p:cNvPr id="30" name="TextBox 29"/>
          <p:cNvSpPr txBox="1"/>
          <p:nvPr/>
        </p:nvSpPr>
        <p:spPr>
          <a:xfrm rot="16200000">
            <a:off x="438912" y="3246120"/>
            <a:ext cx="228600" cy="77724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000" b="0">
                <a:solidFill>
                  <a:srgbClr val="1E1E1E"/>
                </a:solidFill>
                <a:latin typeface="Aptos"/>
              </a:rPr>
              <a:t>ETL</a:t>
            </a:r>
          </a:p>
        </p:txBody>
      </p:sp>
      <p:sp>
        <p:nvSpPr>
          <p:cNvPr id="31" name="TextBox 30"/>
          <p:cNvSpPr txBox="1"/>
          <p:nvPr/>
        </p:nvSpPr>
        <p:spPr>
          <a:xfrm rot="16200000">
            <a:off x="438912" y="5257800"/>
            <a:ext cx="228600" cy="77724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000" b="0">
                <a:solidFill>
                  <a:srgbClr val="1E1E1E"/>
                </a:solidFill>
                <a:latin typeface="Aptos"/>
              </a:rPr>
              <a:t>Federation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166360"/>
            <a:ext cx="1033271" cy="868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91A5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24712" y="5321808"/>
            <a:ext cx="219456" cy="219456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800" b="0">
                <a:solidFill>
                  <a:srgbClr val="5C96E6"/>
                </a:solidFill>
                <a:latin typeface="Aptos"/>
              </a:rPr>
              <a:t>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5568696"/>
            <a:ext cx="502920" cy="1645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880" b="0">
                <a:solidFill>
                  <a:srgbClr val="1C4552"/>
                </a:solidFill>
                <a:latin typeface="Aptos"/>
              </a:rPr>
              <a:t>BigQuery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5340096"/>
            <a:ext cx="182880" cy="1645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000" b="0">
                <a:solidFill>
                  <a:srgbClr val="1E1E1E"/>
                </a:solidFill>
                <a:latin typeface="Aptos"/>
              </a:rPr>
              <a:t>…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764792" y="2907792"/>
            <a:ext cx="137160" cy="0"/>
          </a:xfrm>
          <a:prstGeom prst="line">
            <a:avLst/>
          </a:prstGeom>
          <a:ln w="15240">
            <a:solidFill>
              <a:srgbClr val="5E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reeform 36"/>
          <p:cNvSpPr/>
          <p:nvPr/>
        </p:nvSpPr>
        <p:spPr>
          <a:xfrm>
            <a:off x="1828800" y="2863900"/>
            <a:ext cx="73152" cy="87783"/>
          </a:xfrm>
          <a:custGeom>
            <a:avLst/>
            <a:gdLst/>
            <a:ahLst/>
            <a:cxnLst/>
            <a:rect l="l" t="t" r="r" b="b"/>
            <a:pathLst>
              <a:path w="73152" h="87783">
                <a:moveTo>
                  <a:pt x="73152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5E838F"/>
          </a:solidFill>
          <a:ln>
            <a:solidFill>
              <a:srgbClr val="5E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>
            <a:off x="1764792" y="4389120"/>
            <a:ext cx="137160" cy="0"/>
          </a:xfrm>
          <a:prstGeom prst="line">
            <a:avLst/>
          </a:prstGeom>
          <a:ln w="15240">
            <a:solidFill>
              <a:srgbClr val="5E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1828800" y="4345228"/>
            <a:ext cx="73152" cy="87783"/>
          </a:xfrm>
          <a:custGeom>
            <a:avLst/>
            <a:gdLst/>
            <a:ahLst/>
            <a:cxnLst/>
            <a:rect l="l" t="t" r="r" b="b"/>
            <a:pathLst>
              <a:path w="73152" h="87783">
                <a:moveTo>
                  <a:pt x="73152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5E838F"/>
          </a:solidFill>
          <a:ln>
            <a:solidFill>
              <a:srgbClr val="5E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1764792" y="5605272"/>
            <a:ext cx="1783080" cy="0"/>
          </a:xfrm>
          <a:prstGeom prst="line">
            <a:avLst/>
          </a:prstGeom>
          <a:ln w="15240">
            <a:solidFill>
              <a:srgbClr val="5E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3474720" y="5561380"/>
            <a:ext cx="73152" cy="87783"/>
          </a:xfrm>
          <a:custGeom>
            <a:avLst/>
            <a:gdLst/>
            <a:ahLst/>
            <a:cxnLst/>
            <a:rect l="l" t="t" r="r" b="b"/>
            <a:pathLst>
              <a:path w="73152" h="87783">
                <a:moveTo>
                  <a:pt x="73152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5E838F"/>
          </a:solidFill>
          <a:ln>
            <a:solidFill>
              <a:srgbClr val="5E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984248" y="2267712"/>
            <a:ext cx="14173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084831" y="2313432"/>
            <a:ext cx="1097280" cy="20116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2D5B69"/>
                </a:solidFill>
                <a:latin typeface="Aptos"/>
              </a:rPr>
              <a:t>Batch &amp; Streaming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267712" y="2862072"/>
            <a:ext cx="886968" cy="2834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900" b="0">
                <a:solidFill>
                  <a:srgbClr val="1C4552"/>
                </a:solidFill>
                <a:latin typeface="Aptos"/>
              </a:rPr>
              <a:t>Auto</a:t>
            </a:r>
          </a:p>
          <a:p>
            <a:pPr algn="ctr"/>
            <a:r>
              <a:rPr sz="900" b="0">
                <a:solidFill>
                  <a:srgbClr val="1C4552"/>
                </a:solidFill>
                <a:latin typeface="Aptos"/>
              </a:rPr>
              <a:t>Loader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984248" y="3739896"/>
            <a:ext cx="1417320" cy="1453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084831" y="3794760"/>
            <a:ext cx="1097280" cy="20116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2D5B69"/>
                </a:solidFill>
                <a:latin typeface="Aptos"/>
              </a:rPr>
              <a:t>Batch &amp; Streaming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76856" y="4069080"/>
            <a:ext cx="274320" cy="25603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2300" b="0">
                <a:solidFill>
                  <a:srgbClr val="73A0EB"/>
                </a:solidFill>
                <a:latin typeface="Aptos"/>
              </a:rPr>
              <a:t>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20824" y="4462272"/>
            <a:ext cx="594360" cy="30175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880" b="0">
                <a:solidFill>
                  <a:srgbClr val="1C4552"/>
                </a:solidFill>
                <a:latin typeface="Aptos"/>
              </a:rPr>
              <a:t>Cloud</a:t>
            </a:r>
          </a:p>
          <a:p>
            <a:pPr algn="ctr"/>
            <a:r>
              <a:rPr sz="880" b="0">
                <a:solidFill>
                  <a:srgbClr val="1C4552"/>
                </a:solidFill>
                <a:latin typeface="Aptos"/>
              </a:rPr>
              <a:t>Data Fusion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80360" y="4059936"/>
            <a:ext cx="274320" cy="25603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2000" b="0">
                <a:solidFill>
                  <a:srgbClr val="286EDC"/>
                </a:solidFill>
                <a:latin typeface="Aptos"/>
              </a:rPr>
              <a:t>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88336" y="4453128"/>
            <a:ext cx="530352" cy="38404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850" b="0">
                <a:solidFill>
                  <a:srgbClr val="1C4552"/>
                </a:solidFill>
                <a:latin typeface="Aptos"/>
              </a:rPr>
              <a:t>Storage</a:t>
            </a:r>
          </a:p>
          <a:p>
            <a:pPr algn="ctr"/>
            <a:r>
              <a:rPr sz="850" b="0">
                <a:solidFill>
                  <a:srgbClr val="1C4552"/>
                </a:solidFill>
                <a:latin typeface="Aptos"/>
              </a:rPr>
              <a:t>Transfer</a:t>
            </a:r>
          </a:p>
          <a:p>
            <a:pPr algn="ctr"/>
            <a:r>
              <a:rPr sz="850" b="0">
                <a:solidFill>
                  <a:srgbClr val="1C4552"/>
                </a:solidFill>
                <a:latin typeface="Aptos"/>
              </a:rPr>
              <a:t>Service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67712" y="4873752"/>
            <a:ext cx="256032" cy="219456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2000" b="0">
                <a:solidFill>
                  <a:srgbClr val="73A0EB"/>
                </a:solidFill>
                <a:latin typeface="Aptos"/>
              </a:rPr>
              <a:t>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5056632"/>
            <a:ext cx="411480" cy="1645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880" b="0">
                <a:solidFill>
                  <a:srgbClr val="1C4552"/>
                </a:solidFill>
                <a:latin typeface="Aptos"/>
              </a:rPr>
              <a:t>Pub/Sub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07792" y="4864608"/>
            <a:ext cx="256032" cy="219456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2000" b="0">
                <a:solidFill>
                  <a:srgbClr val="1E64D2"/>
                </a:solidFill>
                <a:latin typeface="Aptos"/>
              </a:rPr>
              <a:t>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0" y="5056632"/>
            <a:ext cx="502920" cy="1645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880" b="0">
                <a:solidFill>
                  <a:srgbClr val="1C4552"/>
                </a:solidFill>
                <a:latin typeface="Aptos"/>
              </a:rPr>
              <a:t>Datastream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401568" y="4471416"/>
            <a:ext cx="146304" cy="0"/>
          </a:xfrm>
          <a:prstGeom prst="line">
            <a:avLst/>
          </a:prstGeom>
          <a:ln w="15240">
            <a:solidFill>
              <a:srgbClr val="5E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3474720" y="4427524"/>
            <a:ext cx="73152" cy="87783"/>
          </a:xfrm>
          <a:custGeom>
            <a:avLst/>
            <a:gdLst/>
            <a:ahLst/>
            <a:cxnLst/>
            <a:rect l="l" t="t" r="r" b="b"/>
            <a:pathLst>
              <a:path w="73152" h="87783">
                <a:moveTo>
                  <a:pt x="73152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5E838F"/>
          </a:solidFill>
          <a:ln>
            <a:solidFill>
              <a:srgbClr val="5E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1984248" y="1600200"/>
            <a:ext cx="726948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81728" y="1645920"/>
            <a:ext cx="1920240" cy="20116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2D5B69"/>
                </a:solidFill>
                <a:latin typeface="Aptos"/>
              </a:rPr>
              <a:t>Automation &amp; Orchestration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41648" y="1920240"/>
            <a:ext cx="841248" cy="2011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819" b="0">
                <a:solidFill>
                  <a:srgbClr val="1C4552"/>
                </a:solidFill>
                <a:latin typeface="Aptos"/>
              </a:rPr>
              <a:t>Workflows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882896" y="1920240"/>
            <a:ext cx="749808" cy="2011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819" b="0">
                <a:solidFill>
                  <a:srgbClr val="1C4552"/>
                </a:solidFill>
                <a:latin typeface="Aptos"/>
              </a:rPr>
              <a:t>CI/CD tools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715000" y="1920240"/>
            <a:ext cx="749808" cy="2011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819" b="0">
                <a:solidFill>
                  <a:srgbClr val="1C4552"/>
                </a:solidFill>
                <a:latin typeface="Aptos"/>
              </a:rPr>
              <a:t>DataOps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537960" y="1920240"/>
            <a:ext cx="640080" cy="2011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819" b="0">
                <a:solidFill>
                  <a:srgbClr val="1C4552"/>
                </a:solidFill>
                <a:latin typeface="Aptos"/>
              </a:rPr>
              <a:t>MLOps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454896" y="1600200"/>
            <a:ext cx="1078992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829800" y="1673352"/>
            <a:ext cx="320040" cy="146304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950" b="1">
                <a:solidFill>
                  <a:srgbClr val="2D5B69"/>
                </a:solidFill>
                <a:latin typeface="Aptos"/>
              </a:rPr>
              <a:t>Apps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611880" y="2267712"/>
            <a:ext cx="5632704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709160" y="2322576"/>
            <a:ext cx="2926080" cy="1828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950" b="1">
                <a:solidFill>
                  <a:srgbClr val="2D5B69"/>
                </a:solidFill>
                <a:latin typeface="Aptos"/>
              </a:rPr>
              <a:t>Data Science &amp; Machine Learning  (Mosaic AI)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794760" y="2615184"/>
            <a:ext cx="749808" cy="2834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780" b="0">
                <a:solidFill>
                  <a:srgbClr val="1C4552"/>
                </a:solidFill>
                <a:latin typeface="Aptos"/>
              </a:rPr>
              <a:t>Feature</a:t>
            </a:r>
          </a:p>
          <a:p>
            <a:pPr algn="ctr"/>
            <a:r>
              <a:rPr sz="780" b="0">
                <a:solidFill>
                  <a:srgbClr val="1C4552"/>
                </a:solidFill>
                <a:latin typeface="Aptos"/>
              </a:rPr>
              <a:t>Engineering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239512" y="2615184"/>
            <a:ext cx="749808" cy="2834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819" b="0">
                <a:solidFill>
                  <a:srgbClr val="1C4552"/>
                </a:solidFill>
                <a:latin typeface="Aptos"/>
              </a:rPr>
              <a:t>Classic ML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513064" y="2331720"/>
            <a:ext cx="685800" cy="2834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760" b="0">
                <a:solidFill>
                  <a:srgbClr val="1C4552"/>
                </a:solidFill>
                <a:latin typeface="Aptos"/>
              </a:rPr>
              <a:t>AI</a:t>
            </a:r>
          </a:p>
          <a:p>
            <a:pPr algn="ctr"/>
            <a:r>
              <a:rPr sz="760" b="0">
                <a:solidFill>
                  <a:srgbClr val="1C4552"/>
                </a:solidFill>
                <a:latin typeface="Aptos"/>
              </a:rPr>
              <a:t>Gateway #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513064" y="2660904"/>
            <a:ext cx="685800" cy="2834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760" b="0">
                <a:solidFill>
                  <a:srgbClr val="1C4552"/>
                </a:solidFill>
                <a:latin typeface="Aptos"/>
              </a:rPr>
              <a:t>Model</a:t>
            </a:r>
          </a:p>
          <a:p>
            <a:pPr algn="ctr"/>
            <a:r>
              <a:rPr sz="760" b="0">
                <a:solidFill>
                  <a:srgbClr val="1C4552"/>
                </a:solidFill>
                <a:latin typeface="Aptos"/>
              </a:rPr>
              <a:t>Serving #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611880" y="3017520"/>
            <a:ext cx="329184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498848" y="3072384"/>
            <a:ext cx="1554480" cy="1828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950" b="1">
                <a:solidFill>
                  <a:srgbClr val="2D5B69"/>
                </a:solidFill>
                <a:latin typeface="Aptos"/>
              </a:rPr>
              <a:t>Date Engineering &amp; Processing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794760" y="3310128"/>
            <a:ext cx="749808" cy="2834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780" b="0">
                <a:solidFill>
                  <a:srgbClr val="1C4552"/>
                </a:solidFill>
                <a:latin typeface="Aptos"/>
              </a:rPr>
              <a:t>Delta Live</a:t>
            </a:r>
          </a:p>
          <a:p>
            <a:pPr algn="ctr"/>
            <a:r>
              <a:rPr sz="780" b="0">
                <a:solidFill>
                  <a:srgbClr val="1C4552"/>
                </a:solidFill>
                <a:latin typeface="Aptos"/>
              </a:rPr>
              <a:t>Tables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623560" y="3310128"/>
            <a:ext cx="786384" cy="2834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780" b="0">
                <a:solidFill>
                  <a:srgbClr val="1C4552"/>
                </a:solidFill>
                <a:latin typeface="Aptos"/>
              </a:rPr>
              <a:t>Spark /</a:t>
            </a:r>
          </a:p>
          <a:p>
            <a:pPr algn="ctr"/>
            <a:r>
              <a:rPr sz="780" b="0">
                <a:solidFill>
                  <a:srgbClr val="1C4552"/>
                </a:solidFill>
                <a:latin typeface="Aptos"/>
              </a:rPr>
              <a:t>Photon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976872" y="3017520"/>
            <a:ext cx="2267712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498079" y="3072384"/>
            <a:ext cx="1280160" cy="1828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950" b="1">
                <a:solidFill>
                  <a:srgbClr val="2D5B69"/>
                </a:solidFill>
                <a:latin typeface="Aptos"/>
              </a:rPr>
              <a:t>Data Warehousing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266175" y="3310128"/>
            <a:ext cx="713232" cy="2834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780" b="0">
                <a:solidFill>
                  <a:srgbClr val="1C4552"/>
                </a:solidFill>
                <a:latin typeface="Aptos"/>
              </a:rPr>
              <a:t>Databricks</a:t>
            </a:r>
          </a:p>
          <a:p>
            <a:pPr algn="ctr"/>
            <a:r>
              <a:rPr sz="780" b="0">
                <a:solidFill>
                  <a:srgbClr val="1C4552"/>
                </a:solidFill>
                <a:latin typeface="Aptos"/>
              </a:rPr>
              <a:t>SQL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454896" y="2267712"/>
            <a:ext cx="1078992" cy="136245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546336" y="2322576"/>
            <a:ext cx="841248" cy="1828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2D5B69"/>
                </a:solidFill>
                <a:latin typeface="Aptos"/>
              </a:rPr>
              <a:t>Data Analysis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582912" y="2651760"/>
            <a:ext cx="621792" cy="2834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780" b="0">
                <a:solidFill>
                  <a:srgbClr val="1C4552"/>
                </a:solidFill>
                <a:latin typeface="Aptos"/>
              </a:rPr>
              <a:t>AI/BI</a:t>
            </a:r>
          </a:p>
          <a:p>
            <a:pPr algn="ctr"/>
            <a:r>
              <a:rPr sz="780" b="0">
                <a:solidFill>
                  <a:srgbClr val="1C4552"/>
                </a:solidFill>
                <a:latin typeface="Aptos"/>
              </a:rPr>
              <a:t>Dashboards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582912" y="3063240"/>
            <a:ext cx="621792" cy="2834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780" b="0">
                <a:solidFill>
                  <a:srgbClr val="1C4552"/>
                </a:solidFill>
                <a:latin typeface="Aptos"/>
              </a:rPr>
              <a:t>AI/BI</a:t>
            </a:r>
          </a:p>
          <a:p>
            <a:pPr algn="ctr"/>
            <a:r>
              <a:rPr sz="780" b="0">
                <a:solidFill>
                  <a:srgbClr val="1C4552"/>
                </a:solidFill>
                <a:latin typeface="Aptos"/>
              </a:rPr>
              <a:t>Genie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611880" y="3712463"/>
            <a:ext cx="4727448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617720" y="3767328"/>
            <a:ext cx="2926080" cy="1828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950" b="1">
                <a:solidFill>
                  <a:srgbClr val="2D5B69"/>
                </a:solidFill>
                <a:latin typeface="Aptos"/>
              </a:rPr>
              <a:t>Data Intelligence Engine  (Databricks IQ)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736592" y="4005072"/>
            <a:ext cx="786384" cy="2834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780" b="0">
                <a:solidFill>
                  <a:srgbClr val="1C4552"/>
                </a:solidFill>
                <a:latin typeface="Aptos"/>
              </a:rPr>
              <a:t>Predictive</a:t>
            </a:r>
          </a:p>
          <a:p>
            <a:pPr algn="ctr"/>
            <a:r>
              <a:rPr sz="780" b="0">
                <a:solidFill>
                  <a:srgbClr val="1C4552"/>
                </a:solidFill>
                <a:latin typeface="Aptos"/>
              </a:rPr>
              <a:t>IO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519672" y="4005072"/>
            <a:ext cx="676656" cy="2834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819" b="0">
                <a:solidFill>
                  <a:srgbClr val="1C4552"/>
                </a:solidFill>
                <a:latin typeface="Aptos"/>
              </a:rPr>
              <a:t>Assistant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611880" y="4398264"/>
            <a:ext cx="4727448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480560" y="4453128"/>
            <a:ext cx="2926080" cy="1828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950" b="1">
                <a:solidFill>
                  <a:srgbClr val="2D5B69"/>
                </a:solidFill>
                <a:latin typeface="Aptos"/>
              </a:rPr>
              <a:t>Data and AI Governance  (Unity Catalog)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794760" y="4727448"/>
            <a:ext cx="731520" cy="2834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760" b="0">
                <a:solidFill>
                  <a:srgbClr val="1C4552"/>
                </a:solidFill>
                <a:latin typeface="Aptos"/>
              </a:rPr>
              <a:t>Lakehouse</a:t>
            </a:r>
          </a:p>
          <a:p>
            <a:pPr algn="ctr"/>
            <a:r>
              <a:rPr sz="760" b="0">
                <a:solidFill>
                  <a:srgbClr val="1C4552"/>
                </a:solidFill>
                <a:latin typeface="Aptos"/>
              </a:rPr>
              <a:t>Federation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718304" y="4727448"/>
            <a:ext cx="804672" cy="2834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760" b="0">
                <a:solidFill>
                  <a:srgbClr val="1C4552"/>
                </a:solidFill>
                <a:latin typeface="Aptos"/>
              </a:rPr>
              <a:t>Catalog &amp;</a:t>
            </a:r>
          </a:p>
          <a:p>
            <a:pPr algn="ctr"/>
            <a:r>
              <a:rPr sz="760" b="0">
                <a:solidFill>
                  <a:srgbClr val="1C4552"/>
                </a:solidFill>
                <a:latin typeface="Aptos"/>
              </a:rPr>
              <a:t>Lineage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623560" y="4727448"/>
            <a:ext cx="804672" cy="2834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760" b="0">
                <a:solidFill>
                  <a:srgbClr val="1C4552"/>
                </a:solidFill>
                <a:latin typeface="Aptos"/>
              </a:rPr>
              <a:t>Access</a:t>
            </a:r>
          </a:p>
          <a:p>
            <a:pPr algn="ctr"/>
            <a:r>
              <a:rPr sz="760" b="0">
                <a:solidFill>
                  <a:srgbClr val="1C4552"/>
                </a:solidFill>
                <a:latin typeface="Aptos"/>
              </a:rPr>
              <a:t>Control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821424" y="4727448"/>
            <a:ext cx="758952" cy="28346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760" b="0">
                <a:solidFill>
                  <a:srgbClr val="1C4552"/>
                </a:solidFill>
                <a:latin typeface="Aptos"/>
              </a:rPr>
              <a:t>AI Assets*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611880" y="5166360"/>
            <a:ext cx="3108960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535424" y="5212080"/>
            <a:ext cx="1143000" cy="15544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900" b="1">
                <a:solidFill>
                  <a:srgbClr val="2D5B69"/>
                </a:solidFill>
                <a:latin typeface="Aptos"/>
              </a:rPr>
              <a:t>Data Management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22191" y="5431536"/>
            <a:ext cx="210312" cy="20116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700" b="0">
                <a:solidFill>
                  <a:srgbClr val="00AEBE"/>
                </a:solidFill>
                <a:latin typeface="Aptos"/>
              </a:rPr>
              <a:t>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23360" y="5431536"/>
            <a:ext cx="484632" cy="25603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750" b="0">
                <a:solidFill>
                  <a:srgbClr val="1C4552"/>
                </a:solidFill>
                <a:latin typeface="Aptos"/>
              </a:rPr>
              <a:t>Delta</a:t>
            </a:r>
          </a:p>
          <a:p>
            <a:pPr algn="ctr"/>
            <a:r>
              <a:rPr sz="750" b="0">
                <a:solidFill>
                  <a:srgbClr val="1C4552"/>
                </a:solidFill>
                <a:latin typeface="Aptos"/>
              </a:rPr>
              <a:t>Lake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572000" y="5449824"/>
            <a:ext cx="676656" cy="21945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750" b="0">
                <a:solidFill>
                  <a:srgbClr val="1C4552"/>
                </a:solidFill>
                <a:latin typeface="Aptos"/>
              </a:rPr>
              <a:t>UniForm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5614416" y="5550408"/>
            <a:ext cx="155448" cy="0"/>
          </a:xfrm>
          <a:prstGeom prst="line">
            <a:avLst/>
          </a:prstGeom>
          <a:ln w="50800">
            <a:solidFill>
              <a:srgbClr val="A560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5586983" y="5614416"/>
            <a:ext cx="256032" cy="9144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550" b="0">
                <a:solidFill>
                  <a:srgbClr val="1C4552"/>
                </a:solidFill>
                <a:latin typeface="Aptos"/>
              </a:rPr>
              <a:t>bronze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5879592" y="5550408"/>
            <a:ext cx="155448" cy="0"/>
          </a:xfrm>
          <a:prstGeom prst="line">
            <a:avLst/>
          </a:prstGeom>
          <a:ln w="50800"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5852159" y="5614416"/>
            <a:ext cx="256032" cy="9144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550" b="0">
                <a:solidFill>
                  <a:srgbClr val="1C4552"/>
                </a:solidFill>
                <a:latin typeface="Aptos"/>
              </a:rPr>
              <a:t>silver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6144768" y="5550408"/>
            <a:ext cx="155448" cy="0"/>
          </a:xfrm>
          <a:prstGeom prst="line">
            <a:avLst/>
          </a:prstGeom>
          <a:ln w="50800">
            <a:solidFill>
              <a:srgbClr val="BEAA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6117336" y="5614416"/>
            <a:ext cx="256032" cy="9144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550" b="0">
                <a:solidFill>
                  <a:srgbClr val="1C4552"/>
                </a:solidFill>
                <a:latin typeface="Aptos"/>
              </a:rPr>
              <a:t>gold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766560" y="5166360"/>
            <a:ext cx="1572768" cy="61264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095744" y="5212080"/>
            <a:ext cx="777240" cy="15544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900" b="1">
                <a:solidFill>
                  <a:srgbClr val="2D5B69"/>
                </a:solidFill>
                <a:latin typeface="Aptos"/>
              </a:rPr>
              <a:t>Collaboration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839712" y="5449824"/>
            <a:ext cx="640080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730" b="0">
                <a:solidFill>
                  <a:srgbClr val="1C4552"/>
                </a:solidFill>
                <a:latin typeface="Aptos"/>
              </a:rPr>
              <a:t>Delta</a:t>
            </a:r>
          </a:p>
          <a:p>
            <a:pPr algn="ctr"/>
            <a:r>
              <a:rPr sz="730" b="0">
                <a:solidFill>
                  <a:srgbClr val="1C4552"/>
                </a:solidFill>
                <a:latin typeface="Aptos"/>
              </a:rPr>
              <a:t>Sharing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552944" y="5449824"/>
            <a:ext cx="566928" cy="2560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730" b="0">
                <a:solidFill>
                  <a:srgbClr val="1C4552"/>
                </a:solidFill>
                <a:latin typeface="Aptos"/>
              </a:rPr>
              <a:t>Market</a:t>
            </a:r>
          </a:p>
          <a:p>
            <a:pPr algn="ctr"/>
            <a:r>
              <a:rPr sz="730" b="0">
                <a:solidFill>
                  <a:srgbClr val="1C4552"/>
                </a:solidFill>
                <a:latin typeface="Aptos"/>
              </a:rPr>
              <a:t>place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430768" y="3712463"/>
            <a:ext cx="868680" cy="20756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8577072" y="3895344"/>
            <a:ext cx="438912" cy="32004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840" b="1">
                <a:solidFill>
                  <a:srgbClr val="2D5B69"/>
                </a:solidFill>
                <a:latin typeface="Aptos"/>
              </a:rPr>
              <a:t>Operat.</a:t>
            </a:r>
          </a:p>
          <a:p>
            <a:pPr algn="ctr"/>
            <a:r>
              <a:rPr sz="840" b="1">
                <a:solidFill>
                  <a:srgbClr val="2D5B69"/>
                </a:solidFill>
                <a:latin typeface="Aptos"/>
              </a:rPr>
              <a:t>DBs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714232" y="4261104"/>
            <a:ext cx="182880" cy="1828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300" b="0">
                <a:solidFill>
                  <a:srgbClr val="5F96E6"/>
                </a:solidFill>
                <a:latin typeface="Aptos"/>
              </a:rPr>
              <a:t>▱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531352" y="4434840"/>
            <a:ext cx="457200" cy="22860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800" b="0">
                <a:solidFill>
                  <a:srgbClr val="1C4552"/>
                </a:solidFill>
                <a:latin typeface="Aptos"/>
              </a:rPr>
              <a:t>Cloud</a:t>
            </a:r>
          </a:p>
          <a:p>
            <a:pPr algn="ctr"/>
            <a:r>
              <a:rPr sz="800" b="0">
                <a:solidFill>
                  <a:srgbClr val="1C4552"/>
                </a:solidFill>
                <a:latin typeface="Aptos"/>
              </a:rPr>
              <a:t>BigTable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622792" y="4892040"/>
            <a:ext cx="201168" cy="1828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500" b="0">
                <a:solidFill>
                  <a:srgbClr val="5F96E6"/>
                </a:solidFill>
                <a:latin typeface="Aptos"/>
              </a:rPr>
              <a:t>▰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503920" y="5084064"/>
            <a:ext cx="411480" cy="22860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800" b="0">
                <a:solidFill>
                  <a:srgbClr val="1C4552"/>
                </a:solidFill>
                <a:latin typeface="Aptos"/>
              </a:rPr>
              <a:t>Cloud</a:t>
            </a:r>
          </a:p>
          <a:p>
            <a:pPr algn="ctr"/>
            <a:r>
              <a:rPr sz="800" b="0">
                <a:solidFill>
                  <a:srgbClr val="1C4552"/>
                </a:solidFill>
                <a:latin typeface="Aptos"/>
              </a:rPr>
              <a:t>SQL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42832" y="4910328"/>
            <a:ext cx="256032" cy="1828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400" b="0">
                <a:solidFill>
                  <a:srgbClr val="5F96E6"/>
                </a:solidFill>
                <a:latin typeface="Aptos"/>
              </a:rPr>
              <a:t>▦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869680" y="5084064"/>
            <a:ext cx="365760" cy="22860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800" b="0">
                <a:solidFill>
                  <a:srgbClr val="1C4552"/>
                </a:solidFill>
                <a:latin typeface="Aptos"/>
              </a:rPr>
              <a:t>Data</a:t>
            </a:r>
          </a:p>
          <a:p>
            <a:pPr algn="ctr"/>
            <a:r>
              <a:rPr sz="800" b="0">
                <a:solidFill>
                  <a:srgbClr val="1C4552"/>
                </a:solidFill>
                <a:latin typeface="Aptos"/>
              </a:rPr>
              <a:t>store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9454896" y="3712463"/>
            <a:ext cx="1078992" cy="6309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1A5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9912096" y="3785615"/>
            <a:ext cx="164592" cy="1645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900" b="0">
                <a:solidFill>
                  <a:srgbClr val="2D5B69"/>
                </a:solidFill>
                <a:latin typeface="Aptos"/>
              </a:rPr>
              <a:t>BI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857232" y="3977639"/>
            <a:ext cx="219456" cy="1828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800" b="0">
                <a:solidFill>
                  <a:srgbClr val="5C96E6"/>
                </a:solidFill>
                <a:latin typeface="Aptos"/>
              </a:rPr>
              <a:t>∘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710928" y="4178808"/>
            <a:ext cx="475488" cy="155448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850" b="0">
                <a:solidFill>
                  <a:srgbClr val="1C4552"/>
                </a:solidFill>
                <a:latin typeface="Aptos"/>
              </a:rPr>
              <a:t>Looker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9454896" y="4425696"/>
            <a:ext cx="1078992" cy="6309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1A5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9582912" y="4498848"/>
            <a:ext cx="777240" cy="146304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900" b="1">
                <a:solidFill>
                  <a:srgbClr val="2D5B69"/>
                </a:solidFill>
                <a:latin typeface="Aptos"/>
              </a:rPr>
              <a:t>Business Apps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75520" y="4700016"/>
            <a:ext cx="182880" cy="1645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300" b="0">
                <a:solidFill>
                  <a:srgbClr val="1C4552"/>
                </a:solidFill>
                <a:latin typeface="Aptos"/>
              </a:rPr>
              <a:t>▧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619488" y="4901184"/>
            <a:ext cx="731520" cy="146304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800" b="0">
                <a:solidFill>
                  <a:srgbClr val="1C4552"/>
                </a:solidFill>
                <a:latin typeface="Aptos"/>
              </a:rPr>
              <a:t>Business/AI App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9454896" y="5138928"/>
            <a:ext cx="1078992" cy="6309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1A5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9729216" y="5212080"/>
            <a:ext cx="502920" cy="146304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900" b="1">
                <a:solidFill>
                  <a:srgbClr val="2D5B69"/>
                </a:solidFill>
                <a:latin typeface="Aptos"/>
              </a:rPr>
              <a:t>3rd party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875520" y="5413248"/>
            <a:ext cx="182880" cy="1645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300" b="0">
                <a:solidFill>
                  <a:srgbClr val="1C4552"/>
                </a:solidFill>
                <a:latin typeface="Aptos"/>
              </a:rPr>
              <a:t>▧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656064" y="5614416"/>
            <a:ext cx="685800" cy="146304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800" b="0">
                <a:solidFill>
                  <a:srgbClr val="1C4552"/>
                </a:solidFill>
                <a:latin typeface="Aptos"/>
              </a:rPr>
              <a:t>Data Consumer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8814816" y="3621024"/>
            <a:ext cx="0" cy="91439"/>
          </a:xfrm>
          <a:prstGeom prst="line">
            <a:avLst/>
          </a:prstGeom>
          <a:ln w="15240">
            <a:solidFill>
              <a:srgbClr val="5E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Freeform 127"/>
          <p:cNvSpPr/>
          <p:nvPr/>
        </p:nvSpPr>
        <p:spPr>
          <a:xfrm>
            <a:off x="8770924" y="3639311"/>
            <a:ext cx="87783" cy="73152"/>
          </a:xfrm>
          <a:custGeom>
            <a:avLst/>
            <a:gdLst/>
            <a:ahLst/>
            <a:cxnLst/>
            <a:rect l="l" t="t" r="r" b="b"/>
            <a:pathLst>
              <a:path w="87783" h="73152">
                <a:moveTo>
                  <a:pt x="43892" y="73152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5E838F"/>
          </a:solidFill>
          <a:ln>
            <a:solidFill>
              <a:srgbClr val="5E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9" name="Connector 128"/>
          <p:cNvCxnSpPr/>
          <p:nvPr/>
        </p:nvCxnSpPr>
        <p:spPr>
          <a:xfrm>
            <a:off x="9299448" y="4114800"/>
            <a:ext cx="155448" cy="0"/>
          </a:xfrm>
          <a:prstGeom prst="line">
            <a:avLst/>
          </a:prstGeom>
          <a:ln w="15240">
            <a:solidFill>
              <a:srgbClr val="5E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Freeform 129"/>
          <p:cNvSpPr/>
          <p:nvPr/>
        </p:nvSpPr>
        <p:spPr>
          <a:xfrm>
            <a:off x="9381744" y="4070908"/>
            <a:ext cx="73152" cy="87783"/>
          </a:xfrm>
          <a:custGeom>
            <a:avLst/>
            <a:gdLst/>
            <a:ahLst/>
            <a:cxnLst/>
            <a:rect l="l" t="t" r="r" b="b"/>
            <a:pathLst>
              <a:path w="73152" h="87783">
                <a:moveTo>
                  <a:pt x="73152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5E838F"/>
          </a:solidFill>
          <a:ln>
            <a:solidFill>
              <a:srgbClr val="5E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1" name="Connector 130"/>
          <p:cNvCxnSpPr/>
          <p:nvPr/>
        </p:nvCxnSpPr>
        <p:spPr>
          <a:xfrm>
            <a:off x="9299448" y="4754880"/>
            <a:ext cx="155448" cy="0"/>
          </a:xfrm>
          <a:prstGeom prst="line">
            <a:avLst/>
          </a:prstGeom>
          <a:ln w="15240">
            <a:solidFill>
              <a:srgbClr val="5E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Freeform 131"/>
          <p:cNvSpPr/>
          <p:nvPr/>
        </p:nvSpPr>
        <p:spPr>
          <a:xfrm>
            <a:off x="9381744" y="4710988"/>
            <a:ext cx="73152" cy="87783"/>
          </a:xfrm>
          <a:custGeom>
            <a:avLst/>
            <a:gdLst/>
            <a:ahLst/>
            <a:cxnLst/>
            <a:rect l="l" t="t" r="r" b="b"/>
            <a:pathLst>
              <a:path w="73152" h="87783">
                <a:moveTo>
                  <a:pt x="73152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5E838F"/>
          </a:solidFill>
          <a:ln>
            <a:solidFill>
              <a:srgbClr val="5E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3" name="Connector 132"/>
          <p:cNvCxnSpPr/>
          <p:nvPr/>
        </p:nvCxnSpPr>
        <p:spPr>
          <a:xfrm>
            <a:off x="9299448" y="5358384"/>
            <a:ext cx="155448" cy="0"/>
          </a:xfrm>
          <a:prstGeom prst="line">
            <a:avLst/>
          </a:prstGeom>
          <a:ln w="15240">
            <a:solidFill>
              <a:srgbClr val="5E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Freeform 133"/>
          <p:cNvSpPr/>
          <p:nvPr/>
        </p:nvSpPr>
        <p:spPr>
          <a:xfrm>
            <a:off x="9381744" y="5314492"/>
            <a:ext cx="73152" cy="87783"/>
          </a:xfrm>
          <a:custGeom>
            <a:avLst/>
            <a:gdLst/>
            <a:ahLst/>
            <a:cxnLst/>
            <a:rect l="l" t="t" r="r" b="b"/>
            <a:pathLst>
              <a:path w="73152" h="87783">
                <a:moveTo>
                  <a:pt x="73152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5E838F"/>
          </a:solidFill>
          <a:ln>
            <a:solidFill>
              <a:srgbClr val="5E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5" name="Connector 134"/>
          <p:cNvCxnSpPr/>
          <p:nvPr/>
        </p:nvCxnSpPr>
        <p:spPr>
          <a:xfrm>
            <a:off x="8339327" y="5605272"/>
            <a:ext cx="1115569" cy="0"/>
          </a:xfrm>
          <a:prstGeom prst="line">
            <a:avLst/>
          </a:prstGeom>
          <a:ln w="15240">
            <a:solidFill>
              <a:srgbClr val="5E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Freeform 135"/>
          <p:cNvSpPr/>
          <p:nvPr/>
        </p:nvSpPr>
        <p:spPr>
          <a:xfrm>
            <a:off x="9381744" y="5561380"/>
            <a:ext cx="73152" cy="87783"/>
          </a:xfrm>
          <a:custGeom>
            <a:avLst/>
            <a:gdLst/>
            <a:ahLst/>
            <a:cxnLst/>
            <a:rect l="l" t="t" r="r" b="b"/>
            <a:pathLst>
              <a:path w="73152" h="87783">
                <a:moveTo>
                  <a:pt x="73152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5E838F"/>
          </a:solidFill>
          <a:ln>
            <a:solidFill>
              <a:srgbClr val="5E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7" name="Connector 136"/>
          <p:cNvCxnSpPr/>
          <p:nvPr/>
        </p:nvCxnSpPr>
        <p:spPr>
          <a:xfrm>
            <a:off x="4498848" y="5833872"/>
            <a:ext cx="0" cy="182880"/>
          </a:xfrm>
          <a:prstGeom prst="line">
            <a:avLst/>
          </a:prstGeom>
          <a:ln w="15240">
            <a:solidFill>
              <a:srgbClr val="5E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Freeform 137"/>
          <p:cNvSpPr/>
          <p:nvPr/>
        </p:nvSpPr>
        <p:spPr>
          <a:xfrm>
            <a:off x="4454956" y="5943600"/>
            <a:ext cx="87783" cy="73152"/>
          </a:xfrm>
          <a:custGeom>
            <a:avLst/>
            <a:gdLst/>
            <a:ahLst/>
            <a:cxnLst/>
            <a:rect l="l" t="t" r="r" b="b"/>
            <a:pathLst>
              <a:path w="87783" h="73152">
                <a:moveTo>
                  <a:pt x="43892" y="73152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5E838F"/>
          </a:solidFill>
          <a:ln>
            <a:solidFill>
              <a:srgbClr val="5E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9" name="Connector 138"/>
          <p:cNvCxnSpPr/>
          <p:nvPr/>
        </p:nvCxnSpPr>
        <p:spPr>
          <a:xfrm>
            <a:off x="4498848" y="6016752"/>
            <a:ext cx="466344" cy="0"/>
          </a:xfrm>
          <a:prstGeom prst="line">
            <a:avLst/>
          </a:prstGeom>
          <a:ln w="15240">
            <a:solidFill>
              <a:srgbClr val="5E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Freeform 139"/>
          <p:cNvSpPr/>
          <p:nvPr/>
        </p:nvSpPr>
        <p:spPr>
          <a:xfrm>
            <a:off x="4892040" y="5972860"/>
            <a:ext cx="73152" cy="87783"/>
          </a:xfrm>
          <a:custGeom>
            <a:avLst/>
            <a:gdLst/>
            <a:ahLst/>
            <a:cxnLst/>
            <a:rect l="l" t="t" r="r" b="b"/>
            <a:pathLst>
              <a:path w="73152" h="87783">
                <a:moveTo>
                  <a:pt x="73152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5E838F"/>
          </a:solidFill>
          <a:ln>
            <a:solidFill>
              <a:srgbClr val="5E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4983480" y="5870448"/>
            <a:ext cx="274320" cy="219456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800" b="0">
                <a:solidFill>
                  <a:srgbClr val="699EE6"/>
                </a:solidFill>
                <a:latin typeface="Aptos"/>
              </a:rPr>
              <a:t>▣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526280" y="6217920"/>
            <a:ext cx="1280160" cy="1645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880" b="0">
                <a:solidFill>
                  <a:srgbClr val="1C4552"/>
                </a:solidFill>
                <a:latin typeface="Aptos"/>
              </a:rPr>
              <a:t>Google Cloud Storage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611880" y="6345936"/>
            <a:ext cx="3108960" cy="283464"/>
          </a:xfrm>
          <a:prstGeom prst="rect">
            <a:avLst/>
          </a:prstGeom>
          <a:solidFill>
            <a:srgbClr val="DADADA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1200" b="1">
                <a:solidFill>
                  <a:srgbClr val="414141"/>
                </a:solidFill>
                <a:latin typeface="Aptos"/>
              </a:rPr>
              <a:t>Storage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10753344" y="896112"/>
            <a:ext cx="0" cy="5303520"/>
          </a:xfrm>
          <a:prstGeom prst="line">
            <a:avLst/>
          </a:prstGeom>
          <a:ln w="13970">
            <a:solidFill>
              <a:srgbClr val="8C8C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ounded Rectangle 144"/>
          <p:cNvSpPr/>
          <p:nvPr/>
        </p:nvSpPr>
        <p:spPr>
          <a:xfrm>
            <a:off x="10954512" y="1325880"/>
            <a:ext cx="978408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850" b="1">
                <a:solidFill>
                  <a:srgbClr val="505050"/>
                </a:solidFill>
                <a:latin typeface="Aptos"/>
              </a:rPr>
              <a:t>ID Provider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137392" y="1609344"/>
            <a:ext cx="612648" cy="50292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850" b="0">
                <a:solidFill>
                  <a:srgbClr val="1C4552"/>
                </a:solidFill>
                <a:latin typeface="Aptos"/>
              </a:rPr>
              <a:t>▱</a:t>
            </a:r>
          </a:p>
          <a:p>
            <a:pPr algn="ctr"/>
            <a:r>
              <a:rPr sz="850" b="0">
                <a:solidFill>
                  <a:srgbClr val="1C4552"/>
                </a:solidFill>
                <a:latin typeface="Aptos"/>
              </a:rPr>
              <a:t>ID Provider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10954512" y="2148840"/>
            <a:ext cx="978408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850" b="1">
                <a:solidFill>
                  <a:srgbClr val="505050"/>
                </a:solidFill>
                <a:latin typeface="Aptos"/>
              </a:rPr>
              <a:t>Governance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137392" y="2432304"/>
            <a:ext cx="612648" cy="50292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850" b="0">
                <a:solidFill>
                  <a:srgbClr val="1C4552"/>
                </a:solidFill>
                <a:latin typeface="Aptos"/>
              </a:rPr>
              <a:t>▤</a:t>
            </a:r>
          </a:p>
          <a:p>
            <a:pPr algn="ctr"/>
            <a:r>
              <a:rPr sz="850" b="0">
                <a:solidFill>
                  <a:srgbClr val="1C4552"/>
                </a:solidFill>
                <a:latin typeface="Aptos"/>
              </a:rPr>
              <a:t>Enterprise</a:t>
            </a:r>
          </a:p>
          <a:p>
            <a:pPr algn="ctr"/>
            <a:r>
              <a:rPr sz="850" b="0">
                <a:solidFill>
                  <a:srgbClr val="1C4552"/>
                </a:solidFill>
                <a:latin typeface="Aptos"/>
              </a:rPr>
              <a:t>Catalog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0954512" y="2971800"/>
            <a:ext cx="978408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850" b="1">
                <a:solidFill>
                  <a:srgbClr val="505050"/>
                </a:solidFill>
                <a:latin typeface="Aptos"/>
              </a:rPr>
              <a:t>AI Services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1137392" y="3255264"/>
            <a:ext cx="612648" cy="50292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850" b="0">
                <a:solidFill>
                  <a:srgbClr val="1C4552"/>
                </a:solidFill>
                <a:latin typeface="Aptos"/>
              </a:rPr>
              <a:t>🤗</a:t>
            </a:r>
          </a:p>
          <a:p>
            <a:pPr algn="ctr"/>
            <a:r>
              <a:rPr sz="850" b="0">
                <a:solidFill>
                  <a:srgbClr val="1C4552"/>
                </a:solidFill>
                <a:latin typeface="Aptos"/>
              </a:rPr>
              <a:t>Hugging Face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1137392" y="3703320"/>
            <a:ext cx="612648" cy="50292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850" b="0">
                <a:solidFill>
                  <a:srgbClr val="1C4552"/>
                </a:solidFill>
                <a:latin typeface="Aptos"/>
              </a:rPr>
              <a:t>▦</a:t>
            </a:r>
          </a:p>
          <a:p>
            <a:pPr algn="ctr"/>
            <a:r>
              <a:rPr sz="850" b="0">
                <a:solidFill>
                  <a:srgbClr val="1C4552"/>
                </a:solidFill>
                <a:latin typeface="Aptos"/>
              </a:rPr>
              <a:t>Vertex AI</a:t>
            </a:r>
          </a:p>
          <a:p>
            <a:pPr algn="ctr"/>
            <a:r>
              <a:rPr sz="850" b="0">
                <a:solidFill>
                  <a:srgbClr val="1C4552"/>
                </a:solidFill>
                <a:latin typeface="Aptos"/>
              </a:rPr>
              <a:t>…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0954512" y="4526280"/>
            <a:ext cx="978408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850" b="1">
                <a:solidFill>
                  <a:srgbClr val="505050"/>
                </a:solidFill>
                <a:latin typeface="Aptos"/>
              </a:rPr>
              <a:t>Orchestration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1137392" y="4809744"/>
            <a:ext cx="612648" cy="50292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850" b="0">
                <a:solidFill>
                  <a:srgbClr val="1C4552"/>
                </a:solidFill>
                <a:latin typeface="Aptos"/>
              </a:rPr>
              <a:t>✥</a:t>
            </a:r>
          </a:p>
          <a:p>
            <a:pPr algn="ctr"/>
            <a:r>
              <a:rPr sz="850" b="0">
                <a:solidFill>
                  <a:srgbClr val="1C4552"/>
                </a:solidFill>
                <a:latin typeface="Aptos"/>
              </a:rPr>
              <a:t>External</a:t>
            </a:r>
          </a:p>
          <a:p>
            <a:pPr algn="ctr"/>
            <a:r>
              <a:rPr sz="850" b="0">
                <a:solidFill>
                  <a:srgbClr val="1C4552"/>
                </a:solidFill>
                <a:latin typeface="Aptos"/>
              </a:rPr>
              <a:t>Orchestrator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972800" y="6108192"/>
            <a:ext cx="228600" cy="1828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800" b="0">
                <a:solidFill>
                  <a:srgbClr val="1E1E1E"/>
                </a:solidFill>
                <a:latin typeface="Aptos"/>
              </a:rPr>
              <a:t>Key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11247120" y="6016752"/>
            <a:ext cx="64008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650" b="0">
                <a:solidFill>
                  <a:srgbClr val="2D5B69"/>
                </a:solidFill>
                <a:latin typeface="Aptos"/>
              </a:rPr>
              <a:t>Domain</a:t>
            </a:r>
          </a:p>
          <a:p>
            <a:pPr algn="ctr"/>
            <a:r>
              <a:rPr sz="650" b="0">
                <a:solidFill>
                  <a:srgbClr val="2D5B69"/>
                </a:solidFill>
                <a:latin typeface="Aptos"/>
              </a:rPr>
              <a:t>Key</a:t>
            </a:r>
          </a:p>
          <a:p>
            <a:pPr algn="ctr"/>
            <a:r>
              <a:rPr sz="650" b="0">
                <a:solidFill>
                  <a:srgbClr val="2D5B69"/>
                </a:solidFill>
                <a:latin typeface="Aptos"/>
              </a:rPr>
              <a:t>capability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641080" y="6528816"/>
            <a:ext cx="1828800" cy="182880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/>
            <a:r>
              <a:rPr sz="650" b="0">
                <a:solidFill>
                  <a:srgbClr val="1E1E1E"/>
                </a:solidFill>
                <a:latin typeface="Aptos"/>
              </a:rPr>
              <a:t>* features, models, functions</a:t>
            </a:r>
          </a:p>
          <a:p>
            <a:pPr algn="l"/>
            <a:r>
              <a:rPr sz="650" b="0">
                <a:solidFill>
                  <a:srgbClr val="1E1E1E"/>
                </a:solidFill>
                <a:latin typeface="Aptos"/>
              </a:rPr>
              <a:t># available in selected regions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74320" y="6592147"/>
            <a:ext cx="2468880" cy="16459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l"/>
            <a:r>
              <a:rPr sz="780" b="0">
                <a:solidFill>
                  <a:srgbClr val="2D5B69"/>
                </a:solidFill>
                <a:latin typeface="Aptos"/>
              </a:rPr>
              <a:t>©2024 Databricks Inc. — All rights reserved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64008" y="6583680"/>
            <a:ext cx="82296" cy="36576"/>
          </a:xfrm>
          <a:prstGeom prst="line">
            <a:avLst/>
          </a:prstGeom>
          <a:ln w="12700">
            <a:solidFill>
              <a:srgbClr val="ED5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46304" y="6583680"/>
            <a:ext cx="82296" cy="36576"/>
          </a:xfrm>
          <a:prstGeom prst="line">
            <a:avLst/>
          </a:prstGeom>
          <a:ln w="12700">
            <a:solidFill>
              <a:srgbClr val="ED5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64008" y="6638544"/>
            <a:ext cx="82296" cy="36576"/>
          </a:xfrm>
          <a:prstGeom prst="line">
            <a:avLst/>
          </a:prstGeom>
          <a:ln w="12700">
            <a:solidFill>
              <a:srgbClr val="ED5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46304" y="6638544"/>
            <a:ext cx="82296" cy="36576"/>
          </a:xfrm>
          <a:prstGeom prst="line">
            <a:avLst/>
          </a:prstGeom>
          <a:ln w="12700">
            <a:solidFill>
              <a:srgbClr val="ED5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64008" y="6693408"/>
            <a:ext cx="82296" cy="36576"/>
          </a:xfrm>
          <a:prstGeom prst="line">
            <a:avLst/>
          </a:prstGeom>
          <a:ln w="12700">
            <a:solidFill>
              <a:srgbClr val="ED5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46304" y="6693408"/>
            <a:ext cx="82296" cy="36576"/>
          </a:xfrm>
          <a:prstGeom prst="line">
            <a:avLst/>
          </a:prstGeom>
          <a:ln w="12700">
            <a:solidFill>
              <a:srgbClr val="ED5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eference_arch_original_200d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255</Words>
  <Application>Microsoft Office PowerPoint</Application>
  <PresentationFormat>Custom</PresentationFormat>
  <Paragraphs>146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Arul Samuel</cp:lastModifiedBy>
  <cp:revision>4</cp:revision>
  <dcterms:created xsi:type="dcterms:W3CDTF">2013-01-27T09:14:16Z</dcterms:created>
  <dcterms:modified xsi:type="dcterms:W3CDTF">2026-06-11T20:42:52Z</dcterms:modified>
  <cp:category/>
</cp:coreProperties>
</file>