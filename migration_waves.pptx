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20624"/>
          </a:xfrm>
          <a:prstGeom prst="rect">
            <a:avLst/>
          </a:prstGeom>
          <a:solidFill>
            <a:srgbClr val="1E3A6E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365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Data Migration Approach — Stateless &amp; Stateful Waves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73152"/>
            <a:ext cx="822960" cy="274320"/>
          </a:xfrm>
          <a:prstGeom prst="rect">
            <a:avLst/>
          </a:prstGeom>
          <a:solidFill>
            <a:srgbClr val="EFF6FF"/>
          </a:solidFill>
          <a:ln w="889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73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369A1"/>
                </a:solidFill>
              </a:rPr>
              <a:t>Stateless Waves 1-3</a:t>
            </a:r>
            <a:endParaRPr lang="en-US" sz="550" dirty="0"/>
          </a:p>
        </p:txBody>
      </p:sp>
      <p:sp>
        <p:nvSpPr>
          <p:cNvPr id="6" name="Shape 4"/>
          <p:cNvSpPr/>
          <p:nvPr/>
        </p:nvSpPr>
        <p:spPr>
          <a:xfrm>
            <a:off x="9409176" y="73152"/>
            <a:ext cx="822960" cy="274320"/>
          </a:xfrm>
          <a:prstGeom prst="rect">
            <a:avLst/>
          </a:prstGeom>
          <a:solidFill>
            <a:srgbClr val="F5F3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09176" y="73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7C3AED"/>
                </a:solidFill>
              </a:rPr>
              <a:t>Stateful Waves 4-5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10314432" y="73152"/>
            <a:ext cx="822960" cy="274320"/>
          </a:xfrm>
          <a:prstGeom prst="rect">
            <a:avLst/>
          </a:prstGeom>
          <a:solidFill>
            <a:srgbClr val="F0FDF4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14432" y="73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5803D"/>
                </a:solidFill>
              </a:rPr>
              <a:t>Cutover Wave 6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11219688" y="73152"/>
            <a:ext cx="822960" cy="274320"/>
          </a:xfrm>
          <a:prstGeom prst="rect">
            <a:avLst/>
          </a:prstGeom>
          <a:solidFill>
            <a:srgbClr val="FEF2F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19688" y="73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C2626"/>
                </a:solidFill>
              </a:rPr>
              <a:t>No Redis / Gemfire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91440" y="475488"/>
            <a:ext cx="11978640" cy="237744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48463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369A1"/>
                </a:solidFill>
              </a:rPr>
              <a:t>STATELESS  WAVES  —  No in-flight state. Safe to run parallel, no cutover risk. Roll back by pointing Kafka consumer group offset.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601200" y="4846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369A1"/>
                </a:solidFill>
              </a:rPr>
              <a:t>WAVES  1 → 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1440" y="768096"/>
            <a:ext cx="3785616" cy="2121408"/>
          </a:xfrm>
          <a:prstGeom prst="rect">
            <a:avLst/>
          </a:prstGeom>
          <a:solidFill>
            <a:srgbClr val="EFF6FF"/>
          </a:solidFill>
          <a:ln w="8890">
            <a:solidFill>
              <a:srgbClr val="93C5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" y="768096"/>
            <a:ext cx="566928" cy="256032"/>
          </a:xfrm>
          <a:prstGeom prst="rect">
            <a:avLst/>
          </a:prstGeom>
          <a:solidFill>
            <a:srgbClr val="0369A1"/>
          </a:solidFill>
          <a:ln w="635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" y="7680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7955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Batch Ingestion — Bronze &amp; Silver Delta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" y="97840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Duration: 2-3 weeks  ·  Risk: LOW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64592" y="1024128"/>
            <a:ext cx="1700784" cy="804672"/>
          </a:xfrm>
          <a:prstGeom prst="rect">
            <a:avLst/>
          </a:prstGeom>
          <a:solidFill>
            <a:srgbClr val="FAFBFE"/>
          </a:solidFill>
          <a:ln w="635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104241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369A1"/>
                </a:solidFill>
              </a:rPr>
              <a:t>What migrates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19456" y="1207008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Kafka → Bronze Delta (S3)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19456" y="1357884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Silver filter + pre-validate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19456" y="1508760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15min / 1hr / 1day triggers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19456" y="16596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Stateless SQL transforms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920240" y="1024128"/>
            <a:ext cx="1828800" cy="804672"/>
          </a:xfrm>
          <a:prstGeom prst="rect">
            <a:avLst/>
          </a:prstGeom>
          <a:solidFill>
            <a:srgbClr val="FAFBFE"/>
          </a:solidFill>
          <a:ln w="635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56816" y="104241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369A1"/>
                </a:solidFill>
              </a:rPr>
              <a:t>State involved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956816" y="120700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None.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956816" y="1353312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99"/>
                </a:solidFill>
              </a:rPr>
              <a:t>Pure read from Kafka.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956816" y="1499616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99"/>
                </a:solidFill>
              </a:rPr>
              <a:t>No 24-48hr instate.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956816" y="164592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99"/>
                </a:solidFill>
              </a:rPr>
              <a:t>Offset = rollback.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64592" y="1883664"/>
            <a:ext cx="3602736" cy="219456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" y="189280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</a:rPr>
              <a:t>Retire:  Cloudera Hive (batch tables)  ·  PySpark ETL jobs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64592" y="2139696"/>
            <a:ext cx="3602736" cy="18288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" y="2148840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369A1"/>
                </a:solidFill>
              </a:rPr>
              <a:t>▶  Parallel run: compare Bronze/Silver row counts vs Hive output. Switch when delta &lt; 0.01%.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023360" y="768096"/>
            <a:ext cx="3785616" cy="2121408"/>
          </a:xfrm>
          <a:prstGeom prst="rect">
            <a:avLst/>
          </a:prstGeom>
          <a:solidFill>
            <a:srgbClr val="ECFEFF"/>
          </a:solidFill>
          <a:ln w="8890">
            <a:solidFill>
              <a:srgbClr val="67E8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023360" y="768096"/>
            <a:ext cx="566928" cy="256032"/>
          </a:xfrm>
          <a:prstGeom prst="rect">
            <a:avLst/>
          </a:prstGeom>
          <a:solidFill>
            <a:srgbClr val="0891B2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0" y="7680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45152" y="7955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Reference &amp; Config State Migration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45152" y="97840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Duration: 3-4 weeks  ·  Risk: LOW-MEDIUM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096512" y="1024128"/>
            <a:ext cx="1700784" cy="804672"/>
          </a:xfrm>
          <a:prstGeom prst="rect">
            <a:avLst/>
          </a:prstGeom>
          <a:solidFill>
            <a:srgbClr val="FAFBFE"/>
          </a:solidFill>
          <a:ln w="6350">
            <a:solidFill>
              <a:srgbClr val="67E8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33088" y="104241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</a:rPr>
              <a:t>What migrates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151376" y="1207008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MongoDB config/format docs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151376" y="1357884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Regulator format templates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151376" y="1508760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LEI / instrument reference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151376" y="16596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Counterparty maps + rules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852160" y="1024128"/>
            <a:ext cx="1828800" cy="804672"/>
          </a:xfrm>
          <a:prstGeom prst="rect">
            <a:avLst/>
          </a:prstGeom>
          <a:solidFill>
            <a:srgbClr val="FAFBFE"/>
          </a:solidFill>
          <a:ln w="6350">
            <a:solidFill>
              <a:srgbClr val="67E8F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88736" y="104241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91B2"/>
                </a:solidFill>
              </a:rPr>
              <a:t>Target (no Redis)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907024" y="1207008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99"/>
                </a:solidFill>
              </a:rPr>
              <a:t>→ MongoDB → Lakebase Postgres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907024" y="1357884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99"/>
                </a:solidFill>
              </a:rPr>
              <a:t>→ Broadcast vars in RTM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907024" y="1508760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99"/>
                </a:solidFill>
              </a:rPr>
              <a:t>→ DynamoDB (hot config KV)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907024" y="165963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99"/>
                </a:solidFill>
              </a:rPr>
              <a:t>→ Delta tables + Unity Catalog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096512" y="1883664"/>
            <a:ext cx="3602736" cy="219456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33088" y="189280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</a:rPr>
              <a:t>Retire:  MongoDB (config + reference)  ·  Gemfire/Redis reference caches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096512" y="2139696"/>
            <a:ext cx="3602736" cy="182880"/>
          </a:xfrm>
          <a:prstGeom prst="rect">
            <a:avLst/>
          </a:prstGeom>
          <a:solidFill>
            <a:srgbClr val="ECFEFF"/>
          </a:solidFill>
          <a:ln w="6350">
            <a:solidFill>
              <a:srgbClr val="67E8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33088" y="2148840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891B2"/>
                </a:solidFill>
              </a:rPr>
              <a:t>▶  Dual-read: app reads Lakebase first, falls back to MongoDB. Cut MongoDB when Lakebase stable 2 weeks.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7955280" y="768096"/>
            <a:ext cx="4114800" cy="2121408"/>
          </a:xfrm>
          <a:prstGeom prst="rect">
            <a:avLst/>
          </a:prstGeom>
          <a:solidFill>
            <a:srgbClr val="F0FDFA"/>
          </a:solidFill>
          <a:ln w="8890">
            <a:solidFill>
              <a:srgbClr val="5EEA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955280" y="768096"/>
            <a:ext cx="566928" cy="256032"/>
          </a:xfrm>
          <a:prstGeom prst="rect">
            <a:avLst/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55280" y="7680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W3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577072" y="7955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Batch Gold Pipeline + Job 2 Submission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577072" y="9784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Duration: 3-4 weeks  ·  Risk: LOW-MEDIUM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028432" y="1024128"/>
            <a:ext cx="1828800" cy="804672"/>
          </a:xfrm>
          <a:prstGeom prst="rect">
            <a:avLst/>
          </a:prstGeom>
          <a:solidFill>
            <a:srgbClr val="FAFBFE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65008" y="104241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What migrates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083296" y="120700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Gold Delta transforms + lookups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8083296" y="1357884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Job 2: SFTP/MQ/XML/Excel delivery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8083296" y="150876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DynamoDB config reads (Wave 2)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8083296" y="1659636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gold.submissions_audit Delta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9912096" y="1024128"/>
            <a:ext cx="2066544" cy="804672"/>
          </a:xfrm>
          <a:prstGeom prst="rect">
            <a:avLst/>
          </a:prstGeom>
          <a:solidFill>
            <a:srgbClr val="FAFBFE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948672" y="104241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Prerequisite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948672" y="1207008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Wave 2 complete.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9948672" y="135331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99"/>
                </a:solidFill>
              </a:rPr>
              <a:t>All reference state in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9948672" y="1499616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99"/>
                </a:solidFill>
              </a:rPr>
              <a:t>Lakebase + DynamoDB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9948672" y="1645920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99"/>
                </a:solidFill>
              </a:rPr>
              <a:t>before Gold joins.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8028432" y="1883664"/>
            <a:ext cx="3950208" cy="219456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65008" y="189280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</a:rPr>
              <a:t>Retire:  On-prem batch regulator submission  ·  Hive gold tables  ·  Spring Boot validity checker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8028432" y="2139696"/>
            <a:ext cx="3950208" cy="182880"/>
          </a:xfrm>
          <a:prstGeom prst="rect">
            <a:avLst/>
          </a:prstGeom>
          <a:solidFill>
            <a:srgbClr val="F0FDFA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65008" y="2148840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D9488"/>
                </a:solidFill>
              </a:rPr>
              <a:t>▶  Shadow mode: cloud Job 2 posts to Regulator UAT endpoint only. Switch prod when UAT match &gt; 99.9%.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91440" y="2944368"/>
            <a:ext cx="11978640" cy="237744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64592" y="2953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C3AED"/>
                </a:solidFill>
              </a:rPr>
              <a:t>STATEFUL  WAVES  —  In-flight transaction state (24-48hr window). Requires seed strategy, cutover window, rollback plan.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9601200" y="29535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WAVES  4 → 5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91440" y="3236976"/>
            <a:ext cx="5907024" cy="2816352"/>
          </a:xfrm>
          <a:prstGeom prst="rect">
            <a:avLst/>
          </a:prstGeom>
          <a:solidFill>
            <a:srgbClr val="F5F3FF"/>
          </a:solidFill>
          <a:ln w="8890">
            <a:solidFill>
              <a:srgbClr val="C4B5F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91440" y="3236976"/>
            <a:ext cx="566928" cy="2743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1440" y="32369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W4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731520" y="326440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RTM Transaction State — 24-48hr In-Flight Window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31520" y="34747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Duration: 6-8 weeks (includes 2-week parallel run)  ·  Risk: HIGH  ·  Requires cutover window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164592" y="3712464"/>
            <a:ext cx="1792224" cy="1828800"/>
          </a:xfrm>
          <a:prstGeom prst="rect">
            <a:avLst/>
          </a:prstGeom>
          <a:solidFill>
            <a:srgbClr val="FAFB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01168" y="37307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State Mapping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01168" y="3931920"/>
            <a:ext cx="171907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4B5F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37744" y="395020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MongoDB instate (24-48h)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237744" y="411480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6A34A"/>
                </a:solidFill>
              </a:rPr>
              <a:t>→ RocksDB ValueState seed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201168" y="4352544"/>
            <a:ext cx="171907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4B5F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37744" y="437083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Gemfire/Redis hot KV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237744" y="453542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6A34A"/>
                </a:solidFill>
              </a:rPr>
              <a:t>→ DynamoDB (no Redis target)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201168" y="4773168"/>
            <a:ext cx="171907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4B5F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37744" y="479145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Hazelcast on-prem FCFS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237744" y="49560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6A34A"/>
                </a:solidFill>
              </a:rPr>
              <a:t>→ Hazelcast Cloud CPMap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201168" y="5193792"/>
            <a:ext cx="171907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4B5F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37744" y="521208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ElasticSearch instate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237744" y="53766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6A34A"/>
                </a:solidFill>
              </a:rPr>
              <a:t>→ RocksDB MapState + DynamoDB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2029968" y="3712464"/>
            <a:ext cx="2029968" cy="1828800"/>
          </a:xfrm>
          <a:prstGeom prst="rect">
            <a:avLst/>
          </a:prstGeom>
          <a:solidFill>
            <a:srgbClr val="FAFB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066544" y="373075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Seed Strategy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066544" y="3931920"/>
            <a:ext cx="1956816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4B5F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103120" y="3950208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T-48h snapshot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2103120" y="40965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99"/>
                </a:solidFill>
              </a:rPr>
              <a:t>Export MongoDB instate to DynamoDB snapshot. Script: mongo_export → dynamo_import.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2066544" y="4352544"/>
            <a:ext cx="1956816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4B5F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103120" y="4370832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RocksDB warm-up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2103120" y="4517136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99"/>
                </a:solidFill>
              </a:rPr>
              <a:t>On RTM first start: read 24-48h records from DynamoDB → seed ValueState/ListState before consuming Kafka.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2066544" y="4773168"/>
            <a:ext cx="1956816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4B5F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103120" y="4791456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Offset alignment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2103120" y="493776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99"/>
                </a:solidFill>
              </a:rPr>
              <a:t>Set RTM Kafka consumer to T-48h offset. RTM replays and rebuilds full state from history.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2066544" y="5193792"/>
            <a:ext cx="1956816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4B5F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103120" y="5212080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Verify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2103120" y="5358384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99"/>
                </a:solidFill>
              </a:rPr>
              <a:t>Compare RocksDB state count vs MongoDB instate count before any live traffic.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4133088" y="3712464"/>
            <a:ext cx="1773936" cy="1828800"/>
          </a:xfrm>
          <a:prstGeom prst="rect">
            <a:avLst/>
          </a:prstGeom>
          <a:solidFill>
            <a:srgbClr val="FAFB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169664" y="373075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Cutover Plan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4169664" y="3931920"/>
            <a:ext cx="201168" cy="36576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169664" y="39319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389120" y="3931920"/>
            <a:ext cx="1481328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4B5F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425696" y="3950208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Drain on-prem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425696" y="409651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A99"/>
                </a:solidFill>
              </a:rPr>
              <a:t>Stop new trades entering on-prem pipeline. Flush in-flight. ~2min window.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4169664" y="4352544"/>
            <a:ext cx="201168" cy="36576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169664" y="4352544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389120" y="4352544"/>
            <a:ext cx="1481328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4B5FD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425696" y="43708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Final snapshot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4425696" y="451713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A99"/>
                </a:solidFill>
              </a:rPr>
              <a:t>Last MongoDB/Gemfire instate export → DynamoDB. Delta from T-48h to now.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4169664" y="4773168"/>
            <a:ext cx="201168" cy="36576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169664" y="477316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4389120" y="4773168"/>
            <a:ext cx="1481328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4B5FD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425696" y="4791456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RTM warm start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4425696" y="4937760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A99"/>
                </a:solidFill>
              </a:rPr>
              <a:t>RTM reads DynamoDB seed + replays Kafka from last on-prem offset.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4169664" y="5193792"/>
            <a:ext cx="201168" cy="36576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169664" y="519379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4389120" y="5193792"/>
            <a:ext cx="1481328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4B5FD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425696" y="5212080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Parallel verify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4425696" y="535838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A99"/>
                </a:solidFill>
              </a:rPr>
              <a:t>Run both 30min. Compare validated-trades output row-by-row.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164592" y="5577840"/>
            <a:ext cx="5742432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01168" y="5586984"/>
            <a:ext cx="5687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Rollback: Kafka consumer group offset reset → on-prem resumes from same offset. DynamoDB snapshot preserved for re-seed.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164592" y="5852160"/>
            <a:ext cx="5742432" cy="18288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01168" y="5861304"/>
            <a:ext cx="5687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Retire after Wave 4:  Gemfire / Redis / Elasticsearch instate  ·  On-prem Hazelcast  ·  Spring Boot real-time filter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6144768" y="3236976"/>
            <a:ext cx="3182112" cy="2816352"/>
          </a:xfrm>
          <a:prstGeom prst="rect">
            <a:avLst/>
          </a:prstGeom>
          <a:solidFill>
            <a:srgbClr val="FFFBEB"/>
          </a:solidFill>
          <a:ln w="8890">
            <a:solidFill>
              <a:srgbClr val="FCD34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1" name="Shape 139"/>
          <p:cNvSpPr/>
          <p:nvPr/>
        </p:nvSpPr>
        <p:spPr>
          <a:xfrm>
            <a:off x="6144768" y="3236976"/>
            <a:ext cx="566928" cy="274320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144768" y="32369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W5</a:t>
            </a:r>
            <a:endParaRPr lang="en-US" sz="1000" dirty="0"/>
          </a:p>
        </p:txBody>
      </p:sp>
      <p:sp>
        <p:nvSpPr>
          <p:cNvPr id="143" name="Text 141"/>
          <p:cNvSpPr/>
          <p:nvPr/>
        </p:nvSpPr>
        <p:spPr>
          <a:xfrm>
            <a:off x="6784848" y="326440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</a:rPr>
              <a:t>Full RTM Live — SDP + Feedback Loop</a:t>
            </a:r>
            <a:endParaRPr lang="en-US" sz="950" dirty="0"/>
          </a:p>
        </p:txBody>
      </p:sp>
      <p:sp>
        <p:nvSpPr>
          <p:cNvPr id="144" name="Text 142"/>
          <p:cNvSpPr/>
          <p:nvPr/>
        </p:nvSpPr>
        <p:spPr>
          <a:xfrm>
            <a:off x="6784848" y="347472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Duration: 4 weeks  ·  Risk: MEDIUM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6217920" y="3712464"/>
            <a:ext cx="3017520" cy="1005840"/>
          </a:xfrm>
          <a:prstGeom prst="rect">
            <a:avLst/>
          </a:prstGeom>
          <a:solidFill>
            <a:srgbClr val="FAFBFE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254496" y="3730752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Enable SDP Clusters B + C</a:t>
            </a:r>
            <a:endParaRPr lang="en-US" sz="750" dirty="0"/>
          </a:p>
        </p:txBody>
      </p:sp>
      <p:sp>
        <p:nvSpPr>
          <p:cNvPr id="147" name="Text 145"/>
          <p:cNvSpPr/>
          <p:nvPr/>
        </p:nvSpPr>
        <p:spPr>
          <a:xfrm>
            <a:off x="6272784" y="3931920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SDP Cluster B: DQ L3 + Hazelcast CPMap + IBM MQ live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6272784" y="4067251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SDP Cluster C: feedback MQ → Kafka → RTM union()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6272784" y="4202582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Hazelcast Cloud CPMap active (replaces on-prem HZ)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6272784" y="4337914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DynamoDB replaces MongoDB for all runtime lookups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6272784" y="4473245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Processed-trades → Delta gold tables via SDP-C</a:t>
            </a:r>
            <a:endParaRPr lang="en-US" sz="700" dirty="0"/>
          </a:p>
        </p:txBody>
      </p:sp>
      <p:sp>
        <p:nvSpPr>
          <p:cNvPr id="152" name="Text 150"/>
          <p:cNvSpPr/>
          <p:nvPr/>
        </p:nvSpPr>
        <p:spPr>
          <a:xfrm>
            <a:off x="6272784" y="4608576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gold.regulator_acks populated by feedback loop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6217920" y="4773168"/>
            <a:ext cx="3017520" cy="621792"/>
          </a:xfrm>
          <a:prstGeom prst="rect">
            <a:avLst/>
          </a:prstGeom>
          <a:solidFill>
            <a:srgbClr val="FAFBFE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254496" y="4791456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State handover check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6272784" y="4974336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Confirm RocksDB state stable across 48h window</a:t>
            </a:r>
            <a:endParaRPr lang="en-US" sz="700" dirty="0"/>
          </a:p>
        </p:txBody>
      </p:sp>
      <p:sp>
        <p:nvSpPr>
          <p:cNvPr id="156" name="Text 154"/>
          <p:cNvSpPr/>
          <p:nvPr/>
        </p:nvSpPr>
        <p:spPr>
          <a:xfrm>
            <a:off x="6272784" y="5106010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DynamoDB: submission status matches on-prem MongoDB</a:t>
            </a:r>
            <a:endParaRPr lang="en-US" sz="700" dirty="0"/>
          </a:p>
        </p:txBody>
      </p:sp>
      <p:sp>
        <p:nvSpPr>
          <p:cNvPr id="157" name="Text 155"/>
          <p:cNvSpPr/>
          <p:nvPr/>
        </p:nvSpPr>
        <p:spPr>
          <a:xfrm>
            <a:off x="6272784" y="5237683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Feedback acks round-trip latency &lt; 2s</a:t>
            </a:r>
            <a:endParaRPr lang="en-US" sz="700" dirty="0"/>
          </a:p>
        </p:txBody>
      </p:sp>
      <p:sp>
        <p:nvSpPr>
          <p:cNvPr id="158" name="Text 156"/>
          <p:cNvSpPr/>
          <p:nvPr/>
        </p:nvSpPr>
        <p:spPr>
          <a:xfrm>
            <a:off x="6272784" y="5369357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A45"/>
                </a:solidFill>
              </a:rPr>
              <a:t>• SLA p99 &lt; 7s for 3 consecutive trading days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6217920" y="5431536"/>
            <a:ext cx="301752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254496" y="5449824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Retire:  MongoDB instate (24-48h)  ·  On-prem Hazelcast  ·  Spring Boot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6217920" y="5705856"/>
            <a:ext cx="3017520" cy="182880"/>
          </a:xfrm>
          <a:prstGeom prst="rect">
            <a:avLst/>
          </a:prstGeom>
          <a:solidFill>
            <a:srgbClr val="FFFBEB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254496" y="5715000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45309"/>
                </a:solidFill>
              </a:rPr>
              <a:t>Rollback: toggle SDP to shadow mode. On-prem resumes.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9473184" y="3236976"/>
            <a:ext cx="2596896" cy="2816352"/>
          </a:xfrm>
          <a:prstGeom prst="rect">
            <a:avLst/>
          </a:prstGeom>
          <a:solidFill>
            <a:srgbClr val="F0FDF4"/>
          </a:solidFill>
          <a:ln w="889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4" name="Shape 162"/>
          <p:cNvSpPr/>
          <p:nvPr/>
        </p:nvSpPr>
        <p:spPr>
          <a:xfrm>
            <a:off x="9473184" y="3236976"/>
            <a:ext cx="566928" cy="274320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473184" y="32369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W6</a:t>
            </a:r>
            <a:endParaRPr lang="en-US" sz="1000" dirty="0"/>
          </a:p>
        </p:txBody>
      </p:sp>
      <p:sp>
        <p:nvSpPr>
          <p:cNvPr id="166" name="Text 164"/>
          <p:cNvSpPr/>
          <p:nvPr/>
        </p:nvSpPr>
        <p:spPr>
          <a:xfrm>
            <a:off x="10113264" y="326440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Cutover &amp; Decommission</a:t>
            </a:r>
            <a:endParaRPr lang="en-US" sz="950" dirty="0"/>
          </a:p>
        </p:txBody>
      </p:sp>
      <p:sp>
        <p:nvSpPr>
          <p:cNvPr id="167" name="Text 165"/>
          <p:cNvSpPr/>
          <p:nvPr/>
        </p:nvSpPr>
        <p:spPr>
          <a:xfrm>
            <a:off x="10113264" y="347472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9"/>
                </a:solidFill>
              </a:rPr>
              <a:t>Duration: 2 weeks  ·  Risk: LOW (post-verify)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9546336" y="3712464"/>
            <a:ext cx="2414016" cy="859536"/>
          </a:xfrm>
          <a:prstGeom prst="rect">
            <a:avLst/>
          </a:prstGeom>
          <a:solidFill>
            <a:srgbClr val="FAFBFE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9582912" y="373075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5803D"/>
                </a:solidFill>
              </a:rPr>
              <a:t>Go-live gates (all green)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9619488" y="391363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45"/>
                </a:solidFill>
              </a:rPr>
              <a:t>5 trading days p99 SLA &lt; 7s ✓</a:t>
            </a:r>
            <a:endParaRPr lang="en-US" sz="750" dirty="0"/>
          </a:p>
        </p:txBody>
      </p:sp>
      <p:sp>
        <p:nvSpPr>
          <p:cNvPr id="171" name="Text 169"/>
          <p:cNvSpPr/>
          <p:nvPr/>
        </p:nvSpPr>
        <p:spPr>
          <a:xfrm>
            <a:off x="9619488" y="406542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45"/>
                </a:solidFill>
              </a:rPr>
              <a:t>Regulator ack rate &gt; 99.95% ✓</a:t>
            </a:r>
            <a:endParaRPr lang="en-US" sz="750" dirty="0"/>
          </a:p>
        </p:txBody>
      </p:sp>
      <p:sp>
        <p:nvSpPr>
          <p:cNvPr id="172" name="Text 170"/>
          <p:cNvSpPr/>
          <p:nvPr/>
        </p:nvSpPr>
        <p:spPr>
          <a:xfrm>
            <a:off x="9619488" y="4217213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45"/>
                </a:solidFill>
              </a:rPr>
              <a:t>Zero duplicate submissions ✓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9619488" y="4369003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45"/>
                </a:solidFill>
              </a:rPr>
              <a:t>DQ failure rate &lt; 0.1% ✓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9546336" y="4626864"/>
            <a:ext cx="2414016" cy="1133856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9582912" y="464515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Decommission sequence</a:t>
            </a:r>
            <a:endParaRPr lang="en-US" sz="750" dirty="0"/>
          </a:p>
        </p:txBody>
      </p:sp>
      <p:sp>
        <p:nvSpPr>
          <p:cNvPr id="176" name="Text 174"/>
          <p:cNvSpPr/>
          <p:nvPr/>
        </p:nvSpPr>
        <p:spPr>
          <a:xfrm>
            <a:off x="9619488" y="4828032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1. Spring Boot (filter + validity)</a:t>
            </a:r>
            <a:endParaRPr lang="en-US" sz="700" dirty="0"/>
          </a:p>
        </p:txBody>
      </p:sp>
      <p:sp>
        <p:nvSpPr>
          <p:cNvPr id="177" name="Text 175"/>
          <p:cNvSpPr/>
          <p:nvPr/>
        </p:nvSpPr>
        <p:spPr>
          <a:xfrm>
            <a:off x="9619488" y="4960620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2. PySpark (normalize)</a:t>
            </a:r>
            <a:endParaRPr lang="en-US" sz="700" dirty="0"/>
          </a:p>
        </p:txBody>
      </p:sp>
      <p:sp>
        <p:nvSpPr>
          <p:cNvPr id="178" name="Text 176"/>
          <p:cNvSpPr/>
          <p:nvPr/>
        </p:nvSpPr>
        <p:spPr>
          <a:xfrm>
            <a:off x="9619488" y="5093208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3. Gemfire / Redis caches</a:t>
            </a:r>
            <a:endParaRPr lang="en-US" sz="700" dirty="0"/>
          </a:p>
        </p:txBody>
      </p:sp>
      <p:sp>
        <p:nvSpPr>
          <p:cNvPr id="179" name="Text 177"/>
          <p:cNvSpPr/>
          <p:nvPr/>
        </p:nvSpPr>
        <p:spPr>
          <a:xfrm>
            <a:off x="9619488" y="5225796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4. MongoDB (config + instate)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9619488" y="5358384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5. Cloudera Hive cluster</a:t>
            </a:r>
            <a:endParaRPr lang="en-US" sz="700" dirty="0"/>
          </a:p>
        </p:txBody>
      </p:sp>
      <p:sp>
        <p:nvSpPr>
          <p:cNvPr id="181" name="Text 179"/>
          <p:cNvSpPr/>
          <p:nvPr/>
        </p:nvSpPr>
        <p:spPr>
          <a:xfrm>
            <a:off x="9619488" y="5490972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6. On-prem Kafka brokers</a:t>
            </a:r>
            <a:endParaRPr lang="en-US" sz="700" dirty="0"/>
          </a:p>
        </p:txBody>
      </p:sp>
      <p:sp>
        <p:nvSpPr>
          <p:cNvPr id="182" name="Text 180"/>
          <p:cNvSpPr/>
          <p:nvPr/>
        </p:nvSpPr>
        <p:spPr>
          <a:xfrm>
            <a:off x="9619488" y="5623560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7. On-prem Hazelcast cluster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9546336" y="5797296"/>
            <a:ext cx="2414016" cy="201168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9582912" y="580644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5803D"/>
                </a:solidFill>
              </a:rPr>
              <a:t>Result: Single Databricks platform. 6 stacks → 1.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91440" y="6620256"/>
            <a:ext cx="11978640" cy="36576"/>
          </a:xfrm>
          <a:prstGeom prst="rect">
            <a:avLst/>
          </a:prstGeom>
          <a:solidFill>
            <a:srgbClr val="D0D8EE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1440" y="6565392"/>
            <a:ext cx="1901952" cy="256032"/>
          </a:xfrm>
          <a:prstGeom prst="rect">
            <a:avLst/>
          </a:prstGeom>
          <a:solidFill>
            <a:srgbClr val="EFF6FF"/>
          </a:solidFill>
          <a:ln w="7620">
            <a:solidFill>
              <a:srgbClr val="93C5FD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1440" y="6565392"/>
            <a:ext cx="274320" cy="256032"/>
          </a:xfrm>
          <a:prstGeom prst="rect">
            <a:avLst/>
          </a:prstGeom>
          <a:solidFill>
            <a:srgbClr val="0369A1"/>
          </a:solidFill>
          <a:ln w="6350">
            <a:solidFill>
              <a:srgbClr val="0369A1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91440" y="65653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W1</a:t>
            </a:r>
            <a:endParaRPr lang="en-US" sz="800" dirty="0"/>
          </a:p>
        </p:txBody>
      </p:sp>
      <p:sp>
        <p:nvSpPr>
          <p:cNvPr id="189" name="Text 187"/>
          <p:cNvSpPr/>
          <p:nvPr/>
        </p:nvSpPr>
        <p:spPr>
          <a:xfrm>
            <a:off x="402336" y="65653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369A1"/>
                </a:solidFill>
              </a:rPr>
              <a:t>Batch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0369A1"/>
                </a:solidFill>
              </a:rPr>
              <a:t>Ingest</a:t>
            </a:r>
            <a:endParaRPr lang="en-US" sz="700" dirty="0"/>
          </a:p>
        </p:txBody>
      </p:sp>
      <p:sp>
        <p:nvSpPr>
          <p:cNvPr id="190" name="Text 188"/>
          <p:cNvSpPr/>
          <p:nvPr/>
        </p:nvSpPr>
        <p:spPr>
          <a:xfrm>
            <a:off x="402336" y="6702552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99"/>
                </a:solidFill>
              </a:rPr>
              <a:t>wks 1-3</a:t>
            </a:r>
            <a:endParaRPr lang="en-US" sz="650" dirty="0"/>
          </a:p>
        </p:txBody>
      </p:sp>
      <p:sp>
        <p:nvSpPr>
          <p:cNvPr id="191" name="Shape 189"/>
          <p:cNvSpPr/>
          <p:nvPr/>
        </p:nvSpPr>
        <p:spPr>
          <a:xfrm>
            <a:off x="1993392" y="6693408"/>
            <a:ext cx="18288" cy="9144"/>
          </a:xfrm>
          <a:prstGeom prst="line">
            <a:avLst/>
          </a:prstGeom>
          <a:noFill/>
          <a:ln w="17780">
            <a:solidFill>
              <a:srgbClr val="D0D8EE"/>
            </a:solidFill>
            <a:prstDash val="solid"/>
            <a:headEnd type="none"/>
            <a:tailEnd type="triangle"/>
          </a:ln>
        </p:spPr>
      </p:sp>
      <p:sp>
        <p:nvSpPr>
          <p:cNvPr id="192" name="Shape 190"/>
          <p:cNvSpPr/>
          <p:nvPr/>
        </p:nvSpPr>
        <p:spPr>
          <a:xfrm>
            <a:off x="2084832" y="6565392"/>
            <a:ext cx="1901952" cy="256032"/>
          </a:xfrm>
          <a:prstGeom prst="rect">
            <a:avLst/>
          </a:prstGeom>
          <a:solidFill>
            <a:srgbClr val="ECFEFF"/>
          </a:solidFill>
          <a:ln w="7620">
            <a:solidFill>
              <a:srgbClr val="67E8F9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084832" y="6565392"/>
            <a:ext cx="274320" cy="256032"/>
          </a:xfrm>
          <a:prstGeom prst="rect">
            <a:avLst/>
          </a:prstGeom>
          <a:solidFill>
            <a:srgbClr val="0891B2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2084832" y="65653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W2</a:t>
            </a:r>
            <a:endParaRPr lang="en-US" sz="800" dirty="0"/>
          </a:p>
        </p:txBody>
      </p:sp>
      <p:sp>
        <p:nvSpPr>
          <p:cNvPr id="195" name="Text 193"/>
          <p:cNvSpPr/>
          <p:nvPr/>
        </p:nvSpPr>
        <p:spPr>
          <a:xfrm>
            <a:off x="2395728" y="65653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</a:rPr>
              <a:t>Reference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</a:rPr>
              <a:t>State</a:t>
            </a:r>
            <a:endParaRPr lang="en-US" sz="700" dirty="0"/>
          </a:p>
        </p:txBody>
      </p:sp>
      <p:sp>
        <p:nvSpPr>
          <p:cNvPr id="196" name="Text 194"/>
          <p:cNvSpPr/>
          <p:nvPr/>
        </p:nvSpPr>
        <p:spPr>
          <a:xfrm>
            <a:off x="2395728" y="6702552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99"/>
                </a:solidFill>
              </a:rPr>
              <a:t>wks 3-6</a:t>
            </a:r>
            <a:endParaRPr lang="en-US" sz="650" dirty="0"/>
          </a:p>
        </p:txBody>
      </p:sp>
      <p:sp>
        <p:nvSpPr>
          <p:cNvPr id="197" name="Shape 195"/>
          <p:cNvSpPr/>
          <p:nvPr/>
        </p:nvSpPr>
        <p:spPr>
          <a:xfrm>
            <a:off x="3986784" y="6693408"/>
            <a:ext cx="18288" cy="9144"/>
          </a:xfrm>
          <a:prstGeom prst="line">
            <a:avLst/>
          </a:prstGeom>
          <a:noFill/>
          <a:ln w="17780">
            <a:solidFill>
              <a:srgbClr val="D0D8EE"/>
            </a:solidFill>
            <a:prstDash val="solid"/>
            <a:headEnd type="none"/>
            <a:tailEnd type="triangle"/>
          </a:ln>
        </p:spPr>
      </p:sp>
      <p:sp>
        <p:nvSpPr>
          <p:cNvPr id="198" name="Shape 196"/>
          <p:cNvSpPr/>
          <p:nvPr/>
        </p:nvSpPr>
        <p:spPr>
          <a:xfrm>
            <a:off x="4078224" y="6565392"/>
            <a:ext cx="1901952" cy="256032"/>
          </a:xfrm>
          <a:prstGeom prst="rect">
            <a:avLst/>
          </a:prstGeom>
          <a:solidFill>
            <a:srgbClr val="F0FDFA"/>
          </a:solidFill>
          <a:ln w="7620">
            <a:solidFill>
              <a:srgbClr val="5EEAD4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078224" y="6565392"/>
            <a:ext cx="274320" cy="256032"/>
          </a:xfrm>
          <a:prstGeom prst="rect">
            <a:avLst/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078224" y="65653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W3</a:t>
            </a:r>
            <a:endParaRPr lang="en-US" sz="800" dirty="0"/>
          </a:p>
        </p:txBody>
      </p:sp>
      <p:sp>
        <p:nvSpPr>
          <p:cNvPr id="201" name="Text 199"/>
          <p:cNvSpPr/>
          <p:nvPr/>
        </p:nvSpPr>
        <p:spPr>
          <a:xfrm>
            <a:off x="4389120" y="65653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Batch Gold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+ Job 2</a:t>
            </a:r>
            <a:endParaRPr lang="en-US" sz="700" dirty="0"/>
          </a:p>
        </p:txBody>
      </p:sp>
      <p:sp>
        <p:nvSpPr>
          <p:cNvPr id="202" name="Text 200"/>
          <p:cNvSpPr/>
          <p:nvPr/>
        </p:nvSpPr>
        <p:spPr>
          <a:xfrm>
            <a:off x="4389120" y="6702552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99"/>
                </a:solidFill>
              </a:rPr>
              <a:t>wks 5-8</a:t>
            </a:r>
            <a:endParaRPr lang="en-US" sz="650" dirty="0"/>
          </a:p>
        </p:txBody>
      </p:sp>
      <p:sp>
        <p:nvSpPr>
          <p:cNvPr id="203" name="Shape 201"/>
          <p:cNvSpPr/>
          <p:nvPr/>
        </p:nvSpPr>
        <p:spPr>
          <a:xfrm>
            <a:off x="5980176" y="6693408"/>
            <a:ext cx="18288" cy="9144"/>
          </a:xfrm>
          <a:prstGeom prst="line">
            <a:avLst/>
          </a:prstGeom>
          <a:noFill/>
          <a:ln w="17780">
            <a:solidFill>
              <a:srgbClr val="D0D8EE"/>
            </a:solidFill>
            <a:prstDash val="solid"/>
            <a:headEnd type="none"/>
            <a:tailEnd type="triangle"/>
          </a:ln>
        </p:spPr>
      </p:sp>
      <p:sp>
        <p:nvSpPr>
          <p:cNvPr id="204" name="Shape 202"/>
          <p:cNvSpPr/>
          <p:nvPr/>
        </p:nvSpPr>
        <p:spPr>
          <a:xfrm>
            <a:off x="6071616" y="6565392"/>
            <a:ext cx="1901952" cy="256032"/>
          </a:xfrm>
          <a:prstGeom prst="rect">
            <a:avLst/>
          </a:prstGeom>
          <a:solidFill>
            <a:srgbClr val="F5F3FF"/>
          </a:solidFill>
          <a:ln w="7620">
            <a:solidFill>
              <a:srgbClr val="C4B5FD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071616" y="6565392"/>
            <a:ext cx="274320" cy="256032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071616" y="65653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W4</a:t>
            </a:r>
            <a:endParaRPr lang="en-US" sz="800" dirty="0"/>
          </a:p>
        </p:txBody>
      </p:sp>
      <p:sp>
        <p:nvSpPr>
          <p:cNvPr id="207" name="Text 205"/>
          <p:cNvSpPr/>
          <p:nvPr/>
        </p:nvSpPr>
        <p:spPr>
          <a:xfrm>
            <a:off x="6382512" y="65653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RTM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Txn State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6382512" y="6702552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99"/>
                </a:solidFill>
              </a:rPr>
              <a:t>wks 7-14</a:t>
            </a:r>
            <a:endParaRPr lang="en-US" sz="650" dirty="0"/>
          </a:p>
        </p:txBody>
      </p:sp>
      <p:sp>
        <p:nvSpPr>
          <p:cNvPr id="209" name="Shape 207"/>
          <p:cNvSpPr/>
          <p:nvPr/>
        </p:nvSpPr>
        <p:spPr>
          <a:xfrm>
            <a:off x="7973568" y="6693408"/>
            <a:ext cx="18288" cy="9144"/>
          </a:xfrm>
          <a:prstGeom prst="line">
            <a:avLst/>
          </a:prstGeom>
          <a:noFill/>
          <a:ln w="17780">
            <a:solidFill>
              <a:srgbClr val="D0D8EE"/>
            </a:solidFill>
            <a:prstDash val="solid"/>
            <a:headEnd type="none"/>
            <a:tailEnd type="triangle"/>
          </a:ln>
        </p:spPr>
      </p:sp>
      <p:sp>
        <p:nvSpPr>
          <p:cNvPr id="210" name="Shape 208"/>
          <p:cNvSpPr/>
          <p:nvPr/>
        </p:nvSpPr>
        <p:spPr>
          <a:xfrm>
            <a:off x="8412480" y="6565392"/>
            <a:ext cx="1609344" cy="256032"/>
          </a:xfrm>
          <a:prstGeom prst="rect">
            <a:avLst/>
          </a:prstGeom>
          <a:solidFill>
            <a:srgbClr val="FFFBEB"/>
          </a:solidFill>
          <a:ln w="7620">
            <a:solidFill>
              <a:srgbClr val="FCD34D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412480" y="6565392"/>
            <a:ext cx="274320" cy="256032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8412480" y="65653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W5</a:t>
            </a:r>
            <a:endParaRPr lang="en-US" sz="800" dirty="0"/>
          </a:p>
        </p:txBody>
      </p:sp>
      <p:sp>
        <p:nvSpPr>
          <p:cNvPr id="213" name="Text 211"/>
          <p:cNvSpPr/>
          <p:nvPr/>
        </p:nvSpPr>
        <p:spPr>
          <a:xfrm>
            <a:off x="8723376" y="656539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45309"/>
                </a:solidFill>
              </a:rPr>
              <a:t>Full RTM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B45309"/>
                </a:solidFill>
              </a:rPr>
              <a:t>+ Feedback</a:t>
            </a:r>
            <a:endParaRPr lang="en-US" sz="700" dirty="0"/>
          </a:p>
        </p:txBody>
      </p:sp>
      <p:sp>
        <p:nvSpPr>
          <p:cNvPr id="214" name="Text 212"/>
          <p:cNvSpPr/>
          <p:nvPr/>
        </p:nvSpPr>
        <p:spPr>
          <a:xfrm>
            <a:off x="8723376" y="6702552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99"/>
                </a:solidFill>
              </a:rPr>
              <a:t>wks 13-16</a:t>
            </a:r>
            <a:endParaRPr lang="en-US" sz="650" dirty="0"/>
          </a:p>
        </p:txBody>
      </p:sp>
      <p:sp>
        <p:nvSpPr>
          <p:cNvPr id="215" name="Shape 213"/>
          <p:cNvSpPr/>
          <p:nvPr/>
        </p:nvSpPr>
        <p:spPr>
          <a:xfrm>
            <a:off x="10021824" y="6693408"/>
            <a:ext cx="18288" cy="9144"/>
          </a:xfrm>
          <a:prstGeom prst="line">
            <a:avLst/>
          </a:prstGeom>
          <a:noFill/>
          <a:ln w="17780">
            <a:solidFill>
              <a:srgbClr val="D0D8EE"/>
            </a:solidFill>
            <a:prstDash val="solid"/>
            <a:headEnd type="none"/>
            <a:tailEnd type="triangle"/>
          </a:ln>
        </p:spPr>
      </p:sp>
      <p:sp>
        <p:nvSpPr>
          <p:cNvPr id="216" name="Shape 214"/>
          <p:cNvSpPr/>
          <p:nvPr/>
        </p:nvSpPr>
        <p:spPr>
          <a:xfrm>
            <a:off x="10113264" y="6565392"/>
            <a:ext cx="1956816" cy="256032"/>
          </a:xfrm>
          <a:prstGeom prst="rect">
            <a:avLst/>
          </a:prstGeom>
          <a:solidFill>
            <a:srgbClr val="F0FDF4"/>
          </a:solidFill>
          <a:ln w="7620">
            <a:solidFill>
              <a:srgbClr val="86EFAC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113264" y="6565392"/>
            <a:ext cx="274320" cy="256032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0113264" y="65653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W6</a:t>
            </a:r>
            <a:endParaRPr lang="en-US" sz="800" dirty="0"/>
          </a:p>
        </p:txBody>
      </p:sp>
      <p:sp>
        <p:nvSpPr>
          <p:cNvPr id="219" name="Text 217"/>
          <p:cNvSpPr/>
          <p:nvPr/>
        </p:nvSpPr>
        <p:spPr>
          <a:xfrm>
            <a:off x="10424160" y="65653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5803D"/>
                </a:solidFill>
              </a:rPr>
              <a:t>Cutover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15803D"/>
                </a:solidFill>
              </a:rPr>
              <a:t>+ Decommission</a:t>
            </a:r>
            <a:endParaRPr lang="en-US" sz="700" dirty="0"/>
          </a:p>
        </p:txBody>
      </p:sp>
      <p:sp>
        <p:nvSpPr>
          <p:cNvPr id="220" name="Text 218"/>
          <p:cNvSpPr/>
          <p:nvPr/>
        </p:nvSpPr>
        <p:spPr>
          <a:xfrm>
            <a:off x="10424160" y="670255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99"/>
                </a:solidFill>
              </a:rPr>
              <a:t>wks 15-17</a:t>
            </a:r>
            <a:endParaRPr lang="en-US" sz="650" dirty="0"/>
          </a:p>
        </p:txBody>
      </p:sp>
      <p:sp>
        <p:nvSpPr>
          <p:cNvPr id="221" name="Shape 219"/>
          <p:cNvSpPr/>
          <p:nvPr/>
        </p:nvSpPr>
        <p:spPr>
          <a:xfrm>
            <a:off x="91440" y="6510528"/>
            <a:ext cx="5888736" cy="36576"/>
          </a:xfrm>
          <a:prstGeom prst="rect">
            <a:avLst/>
          </a:prstGeom>
          <a:solidFill>
            <a:srgbClr val="0369A1"/>
          </a:solidFill>
          <a:ln w="6350">
            <a:solidFill>
              <a:srgbClr val="0369A1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1440" y="6519672"/>
            <a:ext cx="588873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369A1"/>
                </a:solidFill>
              </a:rPr>
              <a:t>◀── Stateless (W1-W3) ──▶</a:t>
            </a:r>
            <a:endParaRPr lang="en-US" sz="650" dirty="0"/>
          </a:p>
        </p:txBody>
      </p:sp>
      <p:sp>
        <p:nvSpPr>
          <p:cNvPr id="223" name="Shape 221"/>
          <p:cNvSpPr/>
          <p:nvPr/>
        </p:nvSpPr>
        <p:spPr>
          <a:xfrm>
            <a:off x="6071616" y="6510528"/>
            <a:ext cx="5998464" cy="365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6071616" y="6519672"/>
            <a:ext cx="599846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</a:rPr>
              <a:t>◀─── Stateful (W4-W6) ───▶</a:t>
            </a:r>
            <a:endParaRPr lang="en-US" sz="650" dirty="0"/>
          </a:p>
        </p:txBody>
      </p:sp>
      <p:sp>
        <p:nvSpPr>
          <p:cNvPr id="225" name="Text 223"/>
          <p:cNvSpPr/>
          <p:nvPr/>
        </p:nvSpPr>
        <p:spPr>
          <a:xfrm>
            <a:off x="128016" y="6812280"/>
            <a:ext cx="1188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A99"/>
                </a:solidFill>
              </a:rPr>
              <a:t>* Waves 2-3 and 3-4 overlap by ~1 week. Each wave has a defined rollback before advancing to the next.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Migration Approach — Stateless &amp; Stateful Waves</dc:title>
  <dc:subject>PptxGenJS Presentation</dc:subject>
  <dc:creator>PptxGenJS</dc:creator>
  <cp:lastModifiedBy>PptxGenJS</cp:lastModifiedBy>
  <cp:revision>1</cp:revision>
  <dcterms:created xsi:type="dcterms:W3CDTF">2026-04-20T11:59:14Z</dcterms:created>
  <dcterms:modified xsi:type="dcterms:W3CDTF">2026-04-20T11:59:14Z</dcterms:modified>
</cp:coreProperties>
</file>