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0F172A"/>
          </a:solidFill>
          <a:ln w="508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402336"/>
          </a:xfrm>
          <a:prstGeom prst="rect">
            <a:avLst/>
          </a:prstGeom>
          <a:solidFill>
            <a:srgbClr val="0369A1"/>
          </a:solidFill>
          <a:ln w="5080">
            <a:solidFill>
              <a:srgbClr val="0369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274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Migration Approach — Stateless &amp; Stateful Waves (1/2)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"/>
            <a:ext cx="786384" cy="237744"/>
          </a:xfrm>
          <a:prstGeom prst="rect">
            <a:avLst/>
          </a:prstGeom>
          <a:solidFill>
            <a:srgbClr val="EFF6FF"/>
          </a:solidFill>
          <a:ln w="762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64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69A1"/>
                </a:solidFill>
              </a:rPr>
              <a:t>Stateless W1-W3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0442448" y="64008"/>
            <a:ext cx="786384" cy="237744"/>
          </a:xfrm>
          <a:prstGeom prst="rect">
            <a:avLst/>
          </a:prstGeom>
          <a:solidFill>
            <a:srgbClr val="F5F3FF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42448" y="64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3AED"/>
                </a:solidFill>
              </a:rPr>
              <a:t>Stateful W4-W5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1283696" y="64008"/>
            <a:ext cx="786384" cy="237744"/>
          </a:xfrm>
          <a:prstGeom prst="rect">
            <a:avLst/>
          </a:prstGeom>
          <a:solidFill>
            <a:srgbClr val="FEF2F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83696" y="64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</a:rPr>
              <a:t>No Redis · No Gemfire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" y="457200"/>
            <a:ext cx="11978640" cy="274320"/>
          </a:xfrm>
          <a:prstGeom prst="rect">
            <a:avLst/>
          </a:prstGeom>
          <a:solidFill>
            <a:srgbClr val="EFF6FF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57200"/>
            <a:ext cx="54864" cy="274320"/>
          </a:xfrm>
          <a:prstGeom prst="rect">
            <a:avLst/>
          </a:prstGeom>
          <a:solidFill>
            <a:srgbClr val="0369A1"/>
          </a:solidFill>
          <a:ln w="508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457200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369A1"/>
                </a:solidFill>
              </a:rPr>
              <a:t>STATELESS WAVES — W1 TO W3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78624" y="457200"/>
            <a:ext cx="4551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369A1"/>
                </a:solidFill>
              </a:rPr>
              <a:t>No in-flight state · Safe parallel run · Rollback = Kafka consumer group offset reset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1440" y="786384"/>
            <a:ext cx="3913632" cy="5888736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" y="786384"/>
            <a:ext cx="3913632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" y="786384"/>
            <a:ext cx="320040" cy="329184"/>
          </a:xfrm>
          <a:prstGeom prst="rect">
            <a:avLst/>
          </a:prstGeom>
          <a:solidFill>
            <a:srgbClr val="0369A1"/>
          </a:solidFill>
          <a:ln w="508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" y="786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804672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Batch Ingestion — Bronze &amp; Silver Delta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960120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Duration: 2-3 weeks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83280" y="841248"/>
            <a:ext cx="585216" cy="201168"/>
          </a:xfrm>
          <a:prstGeom prst="rect">
            <a:avLst/>
          </a:prstGeom>
          <a:solidFill>
            <a:srgbClr val="16A34A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8412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LOW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82880" y="11704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What migrates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2880" y="1353312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Kafka → Bronze Delta (S3) — all messages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2880" y="152704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Silver Delta — filter() + pre-validate DQ L1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2880" y="1700784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15min / 1hr / 1day scheduled triggers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2880" y="1874520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Stateless SQL transforms only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2880" y="20848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State involved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2880" y="2267712"/>
            <a:ext cx="37307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2286000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None. Pure stateless read from Kafka. Rollback = Kafka offset reset.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2578608"/>
            <a:ext cx="3730752" cy="1316736"/>
          </a:xfrm>
          <a:prstGeom prst="rect">
            <a:avLst/>
          </a:prstGeom>
          <a:solidFill>
            <a:srgbClr val="FAFFFE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" y="26151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F766E"/>
                </a:solidFill>
              </a:rPr>
              <a:t>✓  VALIDATION STRATEGY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19456" y="2816352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84378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Row count match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74320" y="29718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Cloud Bronze = on-prem Hive ± 0.01%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066544" y="2816352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1408" y="284378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Schema match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121408" y="29718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Column names, types, nullability identical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19456" y="3200400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227832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DQ failure rate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4320" y="335584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Cloud Silver DQ fails ≤ on-prem fail rate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066544" y="3200400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21408" y="3227832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Promote gate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121408" y="335584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3 consecutive trading days all checks pass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82880" y="3694176"/>
            <a:ext cx="3730752" cy="2011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71246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🗑  Retire: Cloudera Hive batch tables · PySpark ETL jobs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3931920"/>
            <a:ext cx="3730752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950208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</a:rPr>
              <a:t>▶  Parallel run: cloud reads same Kafka topic, separate consumer group. Zero impact on on-prem.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14800" y="786384"/>
            <a:ext cx="3913632" cy="5888736"/>
          </a:xfrm>
          <a:prstGeom prst="rect">
            <a:avLst/>
          </a:prstGeom>
          <a:solidFill>
            <a:srgbClr val="ECFEFF"/>
          </a:solidFill>
          <a:ln w="10160">
            <a:solidFill>
              <a:srgbClr val="A5F3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114800" y="786384"/>
            <a:ext cx="3913632" cy="329184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14800" y="786384"/>
            <a:ext cx="320040" cy="329184"/>
          </a:xfrm>
          <a:prstGeom prst="rect">
            <a:avLst/>
          </a:prstGeom>
          <a:solidFill>
            <a:srgbClr val="0891B2"/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786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498848" y="804672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Reference &amp; Config State Migration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98848" y="960120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Duration: 3-4 weeks · Needs W1 stable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406640" y="841248"/>
            <a:ext cx="585216" cy="201168"/>
          </a:xfrm>
          <a:prstGeom prst="rect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0" y="8412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LOW-MED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06240" y="1170432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State Mapping (no Redis · no Gemfire)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06240" y="1371600"/>
            <a:ext cx="3730752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61104" y="1389888"/>
            <a:ext cx="1641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MongoDB config/format docs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922386" y="138988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46231" y="1389888"/>
            <a:ext cx="16788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Lakebase Postgres + DynamoDB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206240" y="1627632"/>
            <a:ext cx="3730752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61104" y="1645920"/>
            <a:ext cx="1641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LEI / instrument reference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922386" y="1645920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146231" y="1645920"/>
            <a:ext cx="16788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Delta tables + Lakebase broadcast vars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206240" y="1883664"/>
            <a:ext cx="3730752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61104" y="1901952"/>
            <a:ext cx="1641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Counterparty maps + rules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922386" y="1901952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146231" y="1901952"/>
            <a:ext cx="16788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DynamoDB hot KV + Unity Catalog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206240" y="2139696"/>
            <a:ext cx="3730752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61104" y="2157984"/>
            <a:ext cx="1641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Gemfire / Redis ref caches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922386" y="215798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146231" y="2157984"/>
            <a:ext cx="16788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DynamoDB (no Redis target)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06240" y="2450592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Target architecture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206240" y="2633472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Lakebase Postgres → regulator format templates, slow-changing rules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206240" y="2807208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DynamoDB → hot KV for runtime lookups (sub-ms)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206240" y="2980944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Delta + Unity Catalog → governance + ML-ready reference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206240" y="3154680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Broadcast vars in RTM → loaded from Lakebase on startup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206240" y="3364992"/>
            <a:ext cx="3730752" cy="1316736"/>
          </a:xfrm>
          <a:prstGeom prst="rect">
            <a:avLst/>
          </a:prstGeom>
          <a:solidFill>
            <a:srgbClr val="FAFFFE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61104" y="3401568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F766E"/>
                </a:solidFill>
              </a:rPr>
              <a:t>✓  VALIDATION STRATEGY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242816" y="3602736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97680" y="3630168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Record count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297680" y="37581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Lakebase row count = MongoDB doc count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089904" y="3602736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44768" y="3630168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Spot-check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144768" y="375818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100 random records: field-by-field diff = 0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242816" y="3986784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97680" y="4014216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Lookup latency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297680" y="414223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Lakebase p99 lookup &lt; 5ms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089904" y="3986784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44768" y="4014216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Promote gate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6144768" y="414223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Dual-read stable for 2 weeks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206240" y="4407408"/>
            <a:ext cx="3730752" cy="2011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61104" y="4425696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🗑  Retire: MongoDB config/reference · Gemfire/Redis reference caches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206240" y="4645152"/>
            <a:ext cx="3730752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61104" y="4663440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</a:rPr>
              <a:t>▶  Dual-read: RTM reads Lakebase first, falls back to MongoDB. Cut fallback when Lakebase stable.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8138160" y="786384"/>
            <a:ext cx="3913632" cy="5888736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8138160" y="786384"/>
            <a:ext cx="3913632" cy="32918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8138160" y="786384"/>
            <a:ext cx="320040" cy="329184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8160" y="786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W3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8522208" y="804672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Batch Gold Pipeline + Job 2 Submission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8522208" y="960120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Duration: 3-4 weeks · Needs W2 stable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1430000" y="841248"/>
            <a:ext cx="585216" cy="201168"/>
          </a:xfrm>
          <a:prstGeom prst="rect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1430000" y="8412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LOW-MED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8229600" y="1170432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What migrates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8229600" y="1353312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Gold Delta: transformations + stream-static lookups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229600" y="1527048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Job 2: SFTP / IBM MQ / XML / Excel multi-format delivery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8229600" y="1700784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DynamoDB config reads (migrated in Wave 2)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8229600" y="1874520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gold.submissions_audit Delta table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8229600" y="2084832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Prerequisites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8229600" y="2267712"/>
            <a:ext cx="3712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✅  Wave 2 complete — all reference state in Lakebase + DynamoDB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229600" y="2450592"/>
            <a:ext cx="3712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✅  Gold joins can resolve all lookups without MongoDB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8229600" y="2633472"/>
            <a:ext cx="3712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✅  Job 2 reads DynamoDB configs successfully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8229600" y="2834640"/>
            <a:ext cx="3730752" cy="1316736"/>
          </a:xfrm>
          <a:prstGeom prst="rect">
            <a:avLst/>
          </a:prstGeom>
          <a:solidFill>
            <a:srgbClr val="FAFFFE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284464" y="2871216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F766E"/>
                </a:solidFill>
              </a:rPr>
              <a:t>✓  VALIDATION STRATEGY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8266176" y="3072384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321040" y="3099816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Output record match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8321040" y="322783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Cloud gold = on-prem Hive ± 0.01% per day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0113264" y="3072384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168128" y="3099816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Shadow delivery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10168128" y="322783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Job 2 posts to Regulator UAT endpoint only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8266176" y="3456432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321040" y="348386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Format validation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321040" y="36118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UAT ack rate &gt; 99.9%, zero schema errors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0113264" y="3456432"/>
            <a:ext cx="1792224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168128" y="348386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Promote gate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10168128" y="361188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UAT match 99.9% for 5 business days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229600" y="3895344"/>
            <a:ext cx="3730752" cy="2011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284464" y="3913632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🗑  Retire: On-prem batch regulator submission · Hive gold tables · Spring Boot validity checker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8229600" y="4133088"/>
            <a:ext cx="3730752" cy="20116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84464" y="4151376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</a:rPr>
              <a:t>▶  Shadow: Job 2 posts to Regulator UAT only. On-prem continues prod submissions.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91440" y="5065776"/>
            <a:ext cx="11978640" cy="676656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82880" y="5102352"/>
            <a:ext cx="1188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3412"/>
                </a:solidFill>
              </a:rPr>
              <a:t>⚠  MongoDB → RocksDB Seed — Does it auto-sync after 48 hours?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182880" y="530352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350F"/>
                </a:solidFill>
              </a:rPr>
              <a:t>Seed is one-time at Wave 4 startup: MongoDB instate (T-48h) → DynamoDB snapshot → RocksDB ValueState/ListState/MapState. Kafka offset set to T-48h so RTM replays full 48hr history.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6126480" y="530352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350F"/>
                </a:solidFill>
              </a:rPr>
              <a:t>After seed: No — RocksDB does NOT auto-sync from MongoDB. RocksDB is maintained by RTM consuming live Kafka events. Seeded records age out via 48hr TTL naturally, replaced by live event rebuilds. MongoDB and RocksDB diverge at T=0 by design.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11338560" y="66751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1 of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02336"/>
          </a:xfrm>
          <a:prstGeom prst="rect">
            <a:avLst/>
          </a:prstGeom>
          <a:solidFill>
            <a:srgbClr val="0F172A"/>
          </a:solidFill>
          <a:ln w="508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402336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2743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Migration Approach — Stateless &amp; Stateful Waves (2/2)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64008"/>
            <a:ext cx="1517904" cy="237744"/>
          </a:xfrm>
          <a:prstGeom prst="rect">
            <a:avLst/>
          </a:prstGeom>
          <a:solidFill>
            <a:srgbClr val="FFFBEB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</a:rPr>
              <a:t>Shadow Run W5-W6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8906256" y="64008"/>
            <a:ext cx="1517904" cy="237744"/>
          </a:xfrm>
          <a:prstGeom prst="rect">
            <a:avLst/>
          </a:prstGeom>
          <a:solidFill>
            <a:srgbClr val="F0FDF4"/>
          </a:solidFill>
          <a:ln w="762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06256" y="640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803D"/>
                </a:solidFill>
              </a:rPr>
              <a:t>Switchover W7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0497312" y="64008"/>
            <a:ext cx="1517904" cy="237744"/>
          </a:xfrm>
          <a:prstGeom prst="rect">
            <a:avLst/>
          </a:prstGeom>
          <a:solidFill>
            <a:srgbClr val="F8FAFC"/>
          </a:solidFill>
          <a:ln w="762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97312" y="640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</a:rPr>
              <a:t>On-prem → Hot Standby → Decommission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91440" y="457200"/>
            <a:ext cx="11978640" cy="27432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57200"/>
            <a:ext cx="54864" cy="274320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457200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C3AED"/>
                </a:solidFill>
              </a:rPr>
              <a:t>STATEFUL WAVES — W4 TO W7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78624" y="457200"/>
            <a:ext cx="4551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In-flight 24-48hr state · Seed strategy · Explicit primary/secondary switch · Decommission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1440" y="786384"/>
            <a:ext cx="4974336" cy="5138928"/>
          </a:xfrm>
          <a:prstGeom prst="rect">
            <a:avLst/>
          </a:prstGeom>
          <a:solidFill>
            <a:srgbClr val="F5F3FF"/>
          </a:solidFill>
          <a:ln w="11430">
            <a:solidFill>
              <a:srgbClr val="DDD6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" y="786384"/>
            <a:ext cx="4974336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" y="786384"/>
            <a:ext cx="320040" cy="329184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" y="786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804672"/>
            <a:ext cx="4197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RTM Transaction State Seed &amp; Parallel Run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960120"/>
            <a:ext cx="3785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Duration: 6-8 weeks incl. 2-week parallel run · Needs W2 stable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43984" y="841248"/>
            <a:ext cx="585216" cy="201168"/>
          </a:xfrm>
          <a:prstGeom prst="rect">
            <a:avLst/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8412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4592" y="118872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State Mapping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4592" y="1389888"/>
            <a:ext cx="1751259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" y="1408176"/>
            <a:ext cx="770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MongoDB instate (24-48h)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70171" y="1408176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5247" y="1408176"/>
            <a:ext cx="7880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RocksDB ValueState seed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4592" y="1645920"/>
            <a:ext cx="1751259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" y="1664208"/>
            <a:ext cx="770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Gemfire / Redis hot KV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70171" y="166420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5247" y="1664208"/>
            <a:ext cx="7880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DynamoDB (no Redis target)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901952"/>
            <a:ext cx="1751259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" y="1920240"/>
            <a:ext cx="770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Elasticsearch instate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70171" y="1920240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5247" y="1920240"/>
            <a:ext cx="7880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RocksDB MapState + DynamoDB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" y="2157984"/>
            <a:ext cx="1751259" cy="21945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" y="2176272"/>
            <a:ext cx="770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On-prem Hazelcast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70171" y="2176272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5247" y="2176272"/>
            <a:ext cx="7880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</a:rPr>
              <a:t>Hazelcast Cloud CPMap (audit W4)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828800" y="118872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Seed Strategy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28800" y="1389888"/>
            <a:ext cx="2011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13898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048256" y="1389888"/>
            <a:ext cx="1353312" cy="25603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84832" y="139903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T-48h snapshot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084832" y="1517904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MongoDB instate + Gemfire KV → DynamoDB snapshot. Delta-only from T-48h window.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828800" y="1901952"/>
            <a:ext cx="2011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19019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048256" y="1901952"/>
            <a:ext cx="1353312" cy="25603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84832" y="191109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Kafka offset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084832" y="202996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Set RTM consumer to T-48h offset. Replay full 48hr event history before live.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828800" y="2414016"/>
            <a:ext cx="2011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0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048256" y="2414016"/>
            <a:ext cx="1353312" cy="25603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84832" y="242316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RocksDB warm-up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084832" y="2542032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RTM reads DynamoDB on startup → seeds Value/List/MapState before Kafka consume.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828800" y="2926080"/>
            <a:ext cx="2011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29260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048256" y="2926080"/>
            <a:ext cx="1353312" cy="25603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84832" y="293522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Verify counts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084832" y="3054096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RocksDB state count vs MongoDB instate count — must match before any pipeline output.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419856" y="118872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Cloud does in W4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419856" y="138988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Processes all trades from Kafka (separate consumer group)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419856" y="160934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Runs full RTM Bronze → Silver → Gold pipeline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419856" y="18288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Does NOT post to IBM MQ — no regulator submission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419856" y="204825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Does NOT call Hazelcast CPMap for locking yet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419856" y="226771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›  Writes output to cloud Delta tables for audit only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419856" y="2505456"/>
            <a:ext cx="1664208" cy="274320"/>
          </a:xfrm>
          <a:prstGeom prst="rect">
            <a:avLst/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0" y="252374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⚠  On-prem is PRIMARY. All regulator submissions from on-prem only.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64592" y="2871216"/>
            <a:ext cx="4828032" cy="1316736"/>
          </a:xfrm>
          <a:prstGeom prst="rect">
            <a:avLst/>
          </a:prstGeom>
          <a:solidFill>
            <a:srgbClr val="FAFFFE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9456" y="290779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F766E"/>
                </a:solidFill>
              </a:rPr>
              <a:t>✓  VALIDATION STRATEGY — Row-Level Diff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19456" y="3108960"/>
            <a:ext cx="224942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3136392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Trade count match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74320" y="326440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Cloud validated-trades = on-prem count ± 0.01%/day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19456" y="3474720"/>
            <a:ext cx="224942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3502152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Field-level diff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74320" y="363016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1000 trades/day: regulator-format fields identical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19456" y="3840480"/>
            <a:ext cx="224942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3867912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DQ flag alignment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274320" y="399592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Cloud DQ PASS/FAIL matches on-prem &gt; 99.9% same trade_id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505456" y="3108960"/>
            <a:ext cx="224942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0" y="3136392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State consistency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60320" y="326440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RocksDB MapState exposure ± 0.1% vs MongoDB after 24h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505456" y="3474720"/>
            <a:ext cx="224942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60320" y="3502152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SLA verification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60320" y="363016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Cloud RTM p99 latency &lt; 200ms (no MQ cost yet)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505456" y="3840480"/>
            <a:ext cx="2249424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60320" y="3867912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Promote gate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2560320" y="399592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All 5 checks pass for 5 consecutive trading days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64592" y="4261104"/>
            <a:ext cx="4828032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19456" y="427939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↩  Rollback: Reset Kafka consumer group offset. DynamoDB snapshot preserved. On-prem unaffected throughout.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64592" y="4425696"/>
            <a:ext cx="4828032" cy="2011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9456" y="4443984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</a:rPr>
              <a:t>🗑  Retire after W4 gate: Gemfire / Redis / Elasticsearch instate · Spring Boot real-time filter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175504" y="786384"/>
            <a:ext cx="3401568" cy="5138928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5175504" y="786384"/>
            <a:ext cx="3401568" cy="329184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5175504" y="786384"/>
            <a:ext cx="320040" cy="329184"/>
          </a:xfrm>
          <a:prstGeom prst="rect">
            <a:avLst/>
          </a:prstGeom>
          <a:solidFill>
            <a:srgbClr val="B45309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75504" y="786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W5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559552" y="804672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Hazelcast Audit + Feedback Sync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5559552" y="960120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Duration: 3-4 weeks · Cloud reads feedback from on-prem Kafka · Needs W4 gate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955280" y="841248"/>
            <a:ext cx="585216" cy="201168"/>
          </a:xfrm>
          <a:prstGeom prst="rect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55280" y="8412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MED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5266944" y="1188720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Hazelcast Audit Table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266944" y="1371600"/>
            <a:ext cx="3236976" cy="768096"/>
          </a:xfrm>
          <a:prstGeom prst="rect">
            <a:avLst/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321808" y="1408176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Purpose: track row-level diff per trade_id between cloud and on-prem output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303520" y="1591056"/>
            <a:ext cx="3163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Stored in Hazelcast IMap  trade-audit:{trade_id}  (NOT CPMap — no submission locking yet)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303520" y="1764792"/>
            <a:ext cx="3163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Cloud writes: { cloud_validated, match: true/false, cloud_ts, onprem_ts, diff_fields }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5303520" y="1938528"/>
            <a:ext cx="3163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Confidence metric: % trades where cloud output matches on-prem today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5303520" y="2112264"/>
            <a:ext cx="3163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NOT used for FCFS submission — that is Wave 6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266944" y="2212848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Feedback from On-Prem (cloud does NOT post)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266944" y="2395728"/>
            <a:ext cx="3236976" cy="8229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303520" y="2432304"/>
            <a:ext cx="31638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On-prem posts to Regulator (prod) as normal → receives ack/reject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303520" y="2595067"/>
            <a:ext cx="31638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On-prem publishes ack to shared  regulator-feedback  Kafka topic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5303520" y="2757830"/>
            <a:ext cx="31638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Cloud SDP Cluster C consumes regulator-feedback Kafka topic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5303520" y="2920594"/>
            <a:ext cx="31638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Cloud updates gold.regulator_acks Delta + DynamoDB status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303520" y="3083357"/>
            <a:ext cx="31638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Cloud RTM union() receives state_update events → RocksDB stays current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5266944" y="3291840"/>
            <a:ext cx="3236976" cy="1316736"/>
          </a:xfrm>
          <a:prstGeom prst="rect">
            <a:avLst/>
          </a:prstGeom>
          <a:solidFill>
            <a:srgbClr val="FAFFFE"/>
          </a:solidFill>
          <a:ln w="10160">
            <a:solidFill>
              <a:srgbClr val="99F6E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321808" y="3328416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F766E"/>
                </a:solidFill>
              </a:rPr>
              <a:t>✓  VALIDATION STRATEGY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5303520" y="3529584"/>
            <a:ext cx="1536192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358384" y="3557016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HZ audit match rate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5358384" y="368503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Cloud output matches on-prem &gt; 99.95%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894576" y="3529584"/>
            <a:ext cx="1536192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49440" y="3557016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Feedback sync lag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6949440" y="368503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gold.regulator_acks lag vs on-prem &lt; 30s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303520" y="3913632"/>
            <a:ext cx="1536192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358384" y="394106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State divergence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5358384" y="40690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RocksDB vs MongoDB delta &lt; 0.05% after 48h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894576" y="3913632"/>
            <a:ext cx="1536192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949440" y="3941064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Promote gate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6949440" y="40690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Audit match &gt; 99.95% for 5 trading days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5266944" y="4261104"/>
            <a:ext cx="3236976" cy="20116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321808" y="4279392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</a:rPr>
              <a:t>⚠  On-prem remains PRIMARY throughout W5. Cloud pipeline runs fully but submits nothing.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8686800" y="786384"/>
            <a:ext cx="3438144" cy="2706624"/>
          </a:xfrm>
          <a:prstGeom prst="rect">
            <a:avLst/>
          </a:prstGeom>
          <a:solidFill>
            <a:srgbClr val="F0FDFA"/>
          </a:solidFill>
          <a:ln w="10160">
            <a:solidFill>
              <a:srgbClr val="5EEA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2" name="Shape 130"/>
          <p:cNvSpPr/>
          <p:nvPr/>
        </p:nvSpPr>
        <p:spPr>
          <a:xfrm>
            <a:off x="8686800" y="786384"/>
            <a:ext cx="3438144" cy="329184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8686800" y="786384"/>
            <a:ext cx="320040" cy="329184"/>
          </a:xfrm>
          <a:prstGeom prst="rect">
            <a:avLst/>
          </a:prstGeom>
          <a:solidFill>
            <a:srgbClr val="0F766E"/>
          </a:solidFill>
          <a:ln w="5080">
            <a:solidFill>
              <a:srgbClr val="0F766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686800" y="786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W6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9070848" y="804672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Shadow Submission — UAT Endpoint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9070848" y="960120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Duration: 2-3 weeks · Needs W5 gate green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11503152" y="841248"/>
            <a:ext cx="585216" cy="201168"/>
          </a:xfrm>
          <a:prstGeom prst="rect">
            <a:avLst/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1503152" y="84124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MED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8778240" y="1188720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Enable cloud SDP Submission (UAT only)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8778240" y="1371600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Enable Hazelcast Cloud CPMap.putIfAbsent — cloud now competes for FCFS lock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8778240" y="1554480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Cloud winner posts to Regulator UAT endpoint only — NOT prod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8778240" y="1737360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On-prem continues posting to prod endpoint unchanged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8778240" y="1920240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Measure: % of trades where cloud wins FCFS vs on-prem, UAT ack rate, SLA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8778240" y="2139696"/>
            <a:ext cx="3273552" cy="219456"/>
          </a:xfrm>
          <a:prstGeom prst="rect">
            <a:avLst/>
          </a:prstGeom>
          <a:solidFill>
            <a:srgbClr val="F0FDFA"/>
          </a:solidFill>
          <a:ln w="7620">
            <a:solidFill>
              <a:srgbClr val="5EEAD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814816" y="21579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✓  Promote gate: UAT ack rate &gt; 99.9%, zero schema errors, p99 SLA &lt; 7s, 3 days stable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8778240" y="2414016"/>
            <a:ext cx="3273552" cy="20116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833104" y="2432304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</a:rPr>
              <a:t>⚠  On-prem is still PRIMARY for prod throughout W6.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8686800" y="3511296"/>
            <a:ext cx="3438144" cy="2505456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9" name="Shape 147"/>
          <p:cNvSpPr/>
          <p:nvPr/>
        </p:nvSpPr>
        <p:spPr>
          <a:xfrm>
            <a:off x="8686800" y="3511296"/>
            <a:ext cx="3438144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8686800" y="3511296"/>
            <a:ext cx="320040" cy="329184"/>
          </a:xfrm>
          <a:prstGeom prst="rect">
            <a:avLst/>
          </a:prstGeom>
          <a:solidFill>
            <a:srgbClr val="15803D"/>
          </a:solidFill>
          <a:ln w="5080">
            <a:solidFill>
              <a:srgbClr val="15803D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686800" y="351129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W7</a:t>
            </a:r>
            <a:endParaRPr lang="en-US" sz="1100" dirty="0"/>
          </a:p>
        </p:txBody>
      </p:sp>
      <p:sp>
        <p:nvSpPr>
          <p:cNvPr id="152" name="Text 150"/>
          <p:cNvSpPr/>
          <p:nvPr/>
        </p:nvSpPr>
        <p:spPr>
          <a:xfrm>
            <a:off x="9070848" y="3529584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Primary/Secondary Switch + Decommission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9070848" y="3685032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Duration: 2-3 weeks · Needs W6 go-live gates green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11503152" y="3566160"/>
            <a:ext cx="585216" cy="201168"/>
          </a:xfrm>
          <a:prstGeom prst="rect">
            <a:avLst/>
          </a:prstGeom>
          <a:solidFill>
            <a:srgbClr val="16A34A"/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11503152" y="356616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LOW</a:t>
            </a:r>
            <a:endParaRPr lang="en-US" sz="750" dirty="0"/>
          </a:p>
        </p:txBody>
      </p:sp>
      <p:sp>
        <p:nvSpPr>
          <p:cNvPr id="156" name="Text 154"/>
          <p:cNvSpPr/>
          <p:nvPr/>
        </p:nvSpPr>
        <p:spPr>
          <a:xfrm>
            <a:off x="8778240" y="3913632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Cutover sequence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8778240" y="4096512"/>
            <a:ext cx="201168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778240" y="40965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8997696" y="4096512"/>
            <a:ext cx="3035808" cy="25603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034272" y="4105656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Switch prod endpoint</a:t>
            </a:r>
            <a:endParaRPr lang="en-US" sz="800" dirty="0"/>
          </a:p>
        </p:txBody>
      </p:sp>
      <p:sp>
        <p:nvSpPr>
          <p:cNvPr id="161" name="Text 159"/>
          <p:cNvSpPr/>
          <p:nvPr/>
        </p:nvSpPr>
        <p:spPr>
          <a:xfrm>
            <a:off x="9034272" y="4224528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Cloud SDP → prod Regulator. On-prem demotes to UAT (hot standby).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8778240" y="4462272"/>
            <a:ext cx="201168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778240" y="44622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8997696" y="4462272"/>
            <a:ext cx="3035808" cy="25603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034272" y="4471416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Monitor 30 min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9034272" y="4590288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Compare prod ack rate, SLA, DQ — cloud vs standby. Anomaly → instant rollback.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8778240" y="4828032"/>
            <a:ext cx="201168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778240" y="48280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8997696" y="4828032"/>
            <a:ext cx="3035808" cy="25603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034272" y="4837176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Declare cloud PRIMARY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9034272" y="4956048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On-prem hot standby 2-4 weeks. Both consume Kafka, only cloud posts to prod.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8778240" y="5193792"/>
            <a:ext cx="201168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778240" y="51937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8997696" y="5193792"/>
            <a:ext cx="3035808" cy="25603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034272" y="5202936"/>
            <a:ext cx="2962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Decommission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9034272" y="5321808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SB→ PySpark→ Gemfire→ MongoDB→ Hive→ on-prem Kafka→ on-prem HZ (sequential)</a:t>
            </a:r>
            <a:endParaRPr lang="en-US" sz="700" dirty="0"/>
          </a:p>
        </p:txBody>
      </p:sp>
      <p:sp>
        <p:nvSpPr>
          <p:cNvPr id="177" name="Shape 175"/>
          <p:cNvSpPr/>
          <p:nvPr/>
        </p:nvSpPr>
        <p:spPr>
          <a:xfrm>
            <a:off x="8778240" y="5559552"/>
            <a:ext cx="3273552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833104" y="5577840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↩  Rollback: Flip cloud to UAT. On-prem standby resumes prod in &lt; 2 min.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91440" y="6035040"/>
            <a:ext cx="1197864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82880" y="60716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4748B"/>
                </a:solidFill>
              </a:rPr>
              <a:t>MIGRATION TIMELINE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164592" y="6272784"/>
            <a:ext cx="1635470" cy="292608"/>
          </a:xfrm>
          <a:prstGeom prst="rect">
            <a:avLst/>
          </a:prstGeom>
          <a:solidFill>
            <a:srgbClr val="0369A1"/>
          </a:solidFill>
          <a:ln w="5080">
            <a:solidFill>
              <a:srgbClr val="0369A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64592" y="6272784"/>
            <a:ext cx="20116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64592" y="627278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W1</a:t>
            </a:r>
            <a:endParaRPr lang="en-US" sz="900" dirty="0"/>
          </a:p>
        </p:txBody>
      </p:sp>
      <p:sp>
        <p:nvSpPr>
          <p:cNvPr id="184" name="Text 182"/>
          <p:cNvSpPr/>
          <p:nvPr/>
        </p:nvSpPr>
        <p:spPr>
          <a:xfrm>
            <a:off x="384048" y="6272784"/>
            <a:ext cx="139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Batch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Ingest</a:t>
            </a:r>
            <a:endParaRPr lang="en-US" sz="800" dirty="0"/>
          </a:p>
        </p:txBody>
      </p:sp>
      <p:sp>
        <p:nvSpPr>
          <p:cNvPr id="185" name="Text 183"/>
          <p:cNvSpPr/>
          <p:nvPr/>
        </p:nvSpPr>
        <p:spPr>
          <a:xfrm>
            <a:off x="164592" y="6601968"/>
            <a:ext cx="1635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Wks 1-3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1854926" y="6272784"/>
            <a:ext cx="1635470" cy="292608"/>
          </a:xfrm>
          <a:prstGeom prst="rect">
            <a:avLst/>
          </a:prstGeom>
          <a:solidFill>
            <a:srgbClr val="0891B2"/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854926" y="6272784"/>
            <a:ext cx="20116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854926" y="627278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W2</a:t>
            </a:r>
            <a:endParaRPr lang="en-US" sz="900" dirty="0"/>
          </a:p>
        </p:txBody>
      </p:sp>
      <p:sp>
        <p:nvSpPr>
          <p:cNvPr id="189" name="Text 187"/>
          <p:cNvSpPr/>
          <p:nvPr/>
        </p:nvSpPr>
        <p:spPr>
          <a:xfrm>
            <a:off x="2074382" y="6272784"/>
            <a:ext cx="139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Reference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State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1854926" y="6601968"/>
            <a:ext cx="1635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Wks 3-6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3545259" y="6272784"/>
            <a:ext cx="1635470" cy="292608"/>
          </a:xfrm>
          <a:prstGeom prst="rect">
            <a:avLst/>
          </a:prstGeom>
          <a:solidFill>
            <a:srgbClr val="0D9488"/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545259" y="6272784"/>
            <a:ext cx="20116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545259" y="627278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W3</a:t>
            </a:r>
            <a:endParaRPr lang="en-US" sz="900" dirty="0"/>
          </a:p>
        </p:txBody>
      </p:sp>
      <p:sp>
        <p:nvSpPr>
          <p:cNvPr id="194" name="Text 192"/>
          <p:cNvSpPr/>
          <p:nvPr/>
        </p:nvSpPr>
        <p:spPr>
          <a:xfrm>
            <a:off x="3764715" y="6272784"/>
            <a:ext cx="139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Batch Gold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 Job 2</a:t>
            </a:r>
            <a:endParaRPr lang="en-US" sz="800" dirty="0"/>
          </a:p>
        </p:txBody>
      </p:sp>
      <p:sp>
        <p:nvSpPr>
          <p:cNvPr id="195" name="Text 193"/>
          <p:cNvSpPr/>
          <p:nvPr/>
        </p:nvSpPr>
        <p:spPr>
          <a:xfrm>
            <a:off x="3545259" y="6601968"/>
            <a:ext cx="1635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Wks 5-8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5235593" y="6272784"/>
            <a:ext cx="1635470" cy="292608"/>
          </a:xfrm>
          <a:prstGeom prst="rect">
            <a:avLst/>
          </a:prstGeom>
          <a:solidFill>
            <a:srgbClr val="7C3AED"/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235593" y="6272784"/>
            <a:ext cx="20116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35593" y="627278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W4</a:t>
            </a:r>
            <a:endParaRPr lang="en-US" sz="900" dirty="0"/>
          </a:p>
        </p:txBody>
      </p:sp>
      <p:sp>
        <p:nvSpPr>
          <p:cNvPr id="199" name="Text 197"/>
          <p:cNvSpPr/>
          <p:nvPr/>
        </p:nvSpPr>
        <p:spPr>
          <a:xfrm>
            <a:off x="5455049" y="6272784"/>
            <a:ext cx="139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RTM State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Seed</a:t>
            </a:r>
            <a:endParaRPr lang="en-US" sz="800" dirty="0"/>
          </a:p>
        </p:txBody>
      </p:sp>
      <p:sp>
        <p:nvSpPr>
          <p:cNvPr id="200" name="Text 198"/>
          <p:cNvSpPr/>
          <p:nvPr/>
        </p:nvSpPr>
        <p:spPr>
          <a:xfrm>
            <a:off x="5235593" y="6601968"/>
            <a:ext cx="1635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Wks 7-14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6925927" y="6272784"/>
            <a:ext cx="1635470" cy="292608"/>
          </a:xfrm>
          <a:prstGeom prst="rect">
            <a:avLst/>
          </a:prstGeom>
          <a:solidFill>
            <a:srgbClr val="B45309"/>
          </a:solidFill>
          <a:ln w="5080">
            <a:solidFill>
              <a:srgbClr val="B45309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925927" y="6272784"/>
            <a:ext cx="20116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925927" y="627278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W5</a:t>
            </a:r>
            <a:endParaRPr lang="en-US" sz="900" dirty="0"/>
          </a:p>
        </p:txBody>
      </p:sp>
      <p:sp>
        <p:nvSpPr>
          <p:cNvPr id="204" name="Text 202"/>
          <p:cNvSpPr/>
          <p:nvPr/>
        </p:nvSpPr>
        <p:spPr>
          <a:xfrm>
            <a:off x="7145383" y="6272784"/>
            <a:ext cx="139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HZ Audit 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Feedback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6925927" y="6601968"/>
            <a:ext cx="1635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Wks 13-16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8616261" y="6272784"/>
            <a:ext cx="1635470" cy="292608"/>
          </a:xfrm>
          <a:prstGeom prst="rect">
            <a:avLst/>
          </a:prstGeom>
          <a:solidFill>
            <a:srgbClr val="0F766E"/>
          </a:solidFill>
          <a:ln w="5080">
            <a:solidFill>
              <a:srgbClr val="0F766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616261" y="6272784"/>
            <a:ext cx="20116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8616261" y="627278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W6</a:t>
            </a:r>
            <a:endParaRPr lang="en-US" sz="900" dirty="0"/>
          </a:p>
        </p:txBody>
      </p:sp>
      <p:sp>
        <p:nvSpPr>
          <p:cNvPr id="209" name="Text 207"/>
          <p:cNvSpPr/>
          <p:nvPr/>
        </p:nvSpPr>
        <p:spPr>
          <a:xfrm>
            <a:off x="8835717" y="6272784"/>
            <a:ext cx="139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Shadow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Submit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8616261" y="6601968"/>
            <a:ext cx="1635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Wks 15-17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10306594" y="6272784"/>
            <a:ext cx="1635470" cy="292608"/>
          </a:xfrm>
          <a:prstGeom prst="rect">
            <a:avLst/>
          </a:prstGeom>
          <a:solidFill>
            <a:srgbClr val="15803D"/>
          </a:solidFill>
          <a:ln w="5080">
            <a:solidFill>
              <a:srgbClr val="15803D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306594" y="6272784"/>
            <a:ext cx="20116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0306594" y="627278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W7</a:t>
            </a:r>
            <a:endParaRPr lang="en-US" sz="900" dirty="0"/>
          </a:p>
        </p:txBody>
      </p:sp>
      <p:sp>
        <p:nvSpPr>
          <p:cNvPr id="214" name="Text 212"/>
          <p:cNvSpPr/>
          <p:nvPr/>
        </p:nvSpPr>
        <p:spPr>
          <a:xfrm>
            <a:off x="10526050" y="6272784"/>
            <a:ext cx="13977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Switchover 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Decommission</a:t>
            </a:r>
            <a:endParaRPr lang="en-US" sz="800" dirty="0"/>
          </a:p>
        </p:txBody>
      </p:sp>
      <p:sp>
        <p:nvSpPr>
          <p:cNvPr id="215" name="Text 213"/>
          <p:cNvSpPr/>
          <p:nvPr/>
        </p:nvSpPr>
        <p:spPr>
          <a:xfrm>
            <a:off x="10306594" y="6601968"/>
            <a:ext cx="1635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Wks 17-20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1781774" y="6428232"/>
            <a:ext cx="1097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17" name="Shape 215"/>
          <p:cNvSpPr/>
          <p:nvPr/>
        </p:nvSpPr>
        <p:spPr>
          <a:xfrm>
            <a:off x="3472107" y="6428232"/>
            <a:ext cx="1097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18" name="Shape 216"/>
          <p:cNvSpPr/>
          <p:nvPr/>
        </p:nvSpPr>
        <p:spPr>
          <a:xfrm>
            <a:off x="5162441" y="6428232"/>
            <a:ext cx="1097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19" name="Shape 217"/>
          <p:cNvSpPr/>
          <p:nvPr/>
        </p:nvSpPr>
        <p:spPr>
          <a:xfrm>
            <a:off x="6852775" y="6428232"/>
            <a:ext cx="1097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20" name="Shape 218"/>
          <p:cNvSpPr/>
          <p:nvPr/>
        </p:nvSpPr>
        <p:spPr>
          <a:xfrm>
            <a:off x="8543109" y="6428232"/>
            <a:ext cx="1097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21" name="Shape 219"/>
          <p:cNvSpPr/>
          <p:nvPr/>
        </p:nvSpPr>
        <p:spPr>
          <a:xfrm>
            <a:off x="10233442" y="6428232"/>
            <a:ext cx="109728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22" name="Text 220"/>
          <p:cNvSpPr/>
          <p:nvPr/>
        </p:nvSpPr>
        <p:spPr>
          <a:xfrm>
            <a:off x="164592" y="6784848"/>
            <a:ext cx="1188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Waves overlap by ~1 week at boundaries. Each wave requires a defined rollback gate before advancing.</a:t>
            </a:r>
            <a:endParaRPr lang="en-US" sz="800" dirty="0"/>
          </a:p>
        </p:txBody>
      </p:sp>
      <p:sp>
        <p:nvSpPr>
          <p:cNvPr id="223" name="Text 221"/>
          <p:cNvSpPr/>
          <p:nvPr/>
        </p:nvSpPr>
        <p:spPr>
          <a:xfrm>
            <a:off x="11338560" y="66751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2 of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Migration Approach</dc:title>
  <dc:subject>PptxGenJS Presentation</dc:subject>
  <dc:creator>PptxGenJS</dc:creator>
  <cp:lastModifiedBy>PptxGenJS</cp:lastModifiedBy>
  <cp:revision>1</cp:revision>
  <dcterms:created xsi:type="dcterms:W3CDTF">2026-04-20T12:24:39Z</dcterms:created>
  <dcterms:modified xsi:type="dcterms:W3CDTF">2026-04-20T12:24:39Z</dcterms:modified>
</cp:coreProperties>
</file>