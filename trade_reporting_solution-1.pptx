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C8D8F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C8D8F0"/>
                </a:solidFill>
                <a:latin typeface="Arial"/>
              </a:rPr>
              <a:t>End-to-End Latency: trade_arrival → IBM MQ (ms)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p50 (ms)</c:v>
                </c:pt>
              </c:strCache>
            </c:strRef>
          </c:tx>
          <c:spPr>
            <a:solidFill>
              <a:srgbClr val="1A6E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All-in-RTM
(Path A)</c:v>
                  </c:pt>
                  <c:pt idx="1">
                    <c:v>RTM+SDP RTM
forEachWriter</c:v>
                  </c:pt>
                  <c:pt idx="2">
                    <c:v>RTM+SDP 100ms★</c:v>
                  </c:pt>
                  <c:pt idx="3">
                    <c:v>RTM+SDP 500ms</c:v>
                  </c:pt>
                  <c:pt idx="4">
                    <c:v>RTM+SDP 1s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25</c:v>
                </c:pt>
                <c:pt idx="2">
                  <c:v>77</c:v>
                </c:pt>
                <c:pt idx="3">
                  <c:v>297</c:v>
                </c:pt>
                <c:pt idx="4">
                  <c:v>547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p99 (ms)</c:v>
                </c:pt>
              </c:strCache>
            </c:strRef>
          </c:tx>
          <c:spPr>
            <a:solidFill>
              <a:srgbClr val="9333E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All-in-RTM
(Path A)</c:v>
                  </c:pt>
                  <c:pt idx="1">
                    <c:v>RTM+SDP RTM
forEachWriter</c:v>
                  </c:pt>
                  <c:pt idx="2">
                    <c:v>RTM+SDP 100ms★</c:v>
                  </c:pt>
                  <c:pt idx="3">
                    <c:v>RTM+SDP 500ms</c:v>
                  </c:pt>
                  <c:pt idx="4">
                    <c:v>RTM+SDP 1s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32</c:v>
                </c:pt>
                <c:pt idx="1">
                  <c:v>46</c:v>
                </c:pt>
                <c:pt idx="2">
                  <c:v>130</c:v>
                </c:pt>
                <c:pt idx="3">
                  <c:v>540</c:v>
                </c:pt>
                <c:pt idx="4">
                  <c:v>1070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83A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83A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E3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6ED4"/>
          </a:solidFill>
          <a:ln/>
        </p:spPr>
      </p:sp>
      <p:sp>
        <p:nvSpPr>
          <p:cNvPr id="3" name="Text 1"/>
          <p:cNvSpPr/>
          <p:nvPr/>
        </p:nvSpPr>
        <p:spPr>
          <a:xfrm rot="16200000">
            <a:off x="256032" y="1280160"/>
            <a:ext cx="1463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6B83A0"/>
                </a:solidFill>
              </a:rPr>
              <a:t>SOLUTION APPROACH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463040" y="7315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83A0"/>
                </a:solidFill>
              </a:rPr>
              <a:t>On-Prem Trade Reporting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463040" y="128016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Cloud Migration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463040" y="23317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8BDF8"/>
                </a:solidFill>
              </a:rPr>
              <a:t>AWS + GCP Active-Active · Databricks RTM · Sub-10s SLA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463040" y="2834640"/>
            <a:ext cx="7132320" cy="22860"/>
          </a:xfrm>
          <a:prstGeom prst="rect">
            <a:avLst/>
          </a:prstGeom>
          <a:solidFill>
            <a:srgbClr val="1E3A5C"/>
          </a:solidFill>
          <a:ln/>
        </p:spPr>
      </p:sp>
      <p:sp>
        <p:nvSpPr>
          <p:cNvPr id="8" name="Shape 6"/>
          <p:cNvSpPr/>
          <p:nvPr/>
        </p:nvSpPr>
        <p:spPr>
          <a:xfrm>
            <a:off x="1463040" y="3017520"/>
            <a:ext cx="1691640" cy="914400"/>
          </a:xfrm>
          <a:prstGeom prst="rect">
            <a:avLst/>
          </a:prstGeom>
          <a:solidFill>
            <a:srgbClr val="111E34"/>
          </a:solidFill>
          <a:ln w="12700">
            <a:solidFill>
              <a:srgbClr val="1E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463040" y="3017520"/>
            <a:ext cx="1691640" cy="54864"/>
          </a:xfrm>
          <a:prstGeom prst="rect">
            <a:avLst/>
          </a:prstGeom>
          <a:solidFill>
            <a:srgbClr val="1A6ED4"/>
          </a:solidFill>
          <a:ln/>
        </p:spPr>
      </p:sp>
      <p:sp>
        <p:nvSpPr>
          <p:cNvPr id="10" name="Text 8"/>
          <p:cNvSpPr/>
          <p:nvPr/>
        </p:nvSpPr>
        <p:spPr>
          <a:xfrm>
            <a:off x="1536192" y="312724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&lt; 10s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36192" y="34930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3A0"/>
                </a:solidFill>
              </a:rPr>
              <a:t>SLA Target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3017520"/>
            <a:ext cx="1691640" cy="914400"/>
          </a:xfrm>
          <a:prstGeom prst="rect">
            <a:avLst/>
          </a:prstGeom>
          <a:solidFill>
            <a:srgbClr val="111E34"/>
          </a:solidFill>
          <a:ln w="12700">
            <a:solidFill>
              <a:srgbClr val="1E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3017520"/>
            <a:ext cx="1691640" cy="54864"/>
          </a:xfrm>
          <a:prstGeom prst="rect">
            <a:avLst/>
          </a:prstGeom>
          <a:solidFill>
            <a:srgbClr val="15A57A"/>
          </a:solidFill>
          <a:ln/>
        </p:spPr>
      </p:sp>
      <p:sp>
        <p:nvSpPr>
          <p:cNvPr id="14" name="Text 12"/>
          <p:cNvSpPr/>
          <p:nvPr/>
        </p:nvSpPr>
        <p:spPr>
          <a:xfrm>
            <a:off x="3364992" y="312724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Active-Active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64992" y="34930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3A0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120640" y="3017520"/>
            <a:ext cx="1691640" cy="914400"/>
          </a:xfrm>
          <a:prstGeom prst="rect">
            <a:avLst/>
          </a:prstGeom>
          <a:solidFill>
            <a:srgbClr val="111E34"/>
          </a:solidFill>
          <a:ln w="12700">
            <a:solidFill>
              <a:srgbClr val="1E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120640" y="3017520"/>
            <a:ext cx="1691640" cy="54864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8" name="Text 16"/>
          <p:cNvSpPr/>
          <p:nvPr/>
        </p:nvSpPr>
        <p:spPr>
          <a:xfrm>
            <a:off x="5193792" y="312724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Databricks RTM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93792" y="34930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3A0"/>
                </a:solidFill>
              </a:rPr>
              <a:t>Processing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49440" y="3017520"/>
            <a:ext cx="1691640" cy="914400"/>
          </a:xfrm>
          <a:prstGeom prst="rect">
            <a:avLst/>
          </a:prstGeom>
          <a:solidFill>
            <a:srgbClr val="111E34"/>
          </a:solidFill>
          <a:ln w="12700">
            <a:solidFill>
              <a:srgbClr val="1E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49440" y="3017520"/>
            <a:ext cx="16916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7022592" y="312724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AWS + GCP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22592" y="34930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3A0"/>
                </a:solidFill>
              </a:rPr>
              <a:t>Clouds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12480" y="47548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3A0"/>
                </a:solidFill>
              </a:rPr>
              <a:t>1 / 12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Problem Statement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3A0"/>
                </a:solidFill>
              </a:rPr>
              <a:t>On-Prem trade reporting — what we had and why it needed to change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3A0"/>
                </a:solidFill>
              </a:rPr>
              <a:t>2 / 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2606040" cy="3657600"/>
          </a:xfrm>
          <a:prstGeom prst="rect">
            <a:avLst/>
          </a:prstGeom>
          <a:solidFill>
            <a:srgbClr val="111E34"/>
          </a:solidFill>
          <a:ln w="12700">
            <a:solidFill>
              <a:srgbClr val="1E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97280"/>
            <a:ext cx="2606040" cy="45720"/>
          </a:xfrm>
          <a:prstGeom prst="rect">
            <a:avLst/>
          </a:prstGeom>
          <a:solidFill>
            <a:srgbClr val="6B83A0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170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On-Prem Stack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499616"/>
            <a:ext cx="23957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D8F0"/>
                </a:solidFill>
              </a:rPr>
              <a:t>Kafka → Spring Boot (filter)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D8F0"/>
                </a:solidFill>
              </a:rPr>
              <a:t>Spring Boot → PySpark (normalize)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D8F0"/>
                </a:solidFill>
              </a:rPr>
              <a:t>PySpark → Kafka → Spring Boot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D8F0"/>
                </a:solidFill>
              </a:rPr>
              <a:t>Validity check → Regulator API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D8F0"/>
                </a:solidFill>
              </a:rPr>
              <a:t>MongoDB (config + instate data)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D8F0"/>
                </a:solidFill>
              </a:rPr>
              <a:t>Elastic Cache (hot fallback)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D8F0"/>
                </a:solidFill>
              </a:rPr>
              <a:t>Cloudera Hive (cold fallback)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8D8F0"/>
                </a:solidFill>
              </a:rPr>
              <a:t>Hazelcast (FCFS between 2 DCs)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63240" y="1097280"/>
            <a:ext cx="2926080" cy="3657600"/>
          </a:xfrm>
          <a:prstGeom prst="rect">
            <a:avLst/>
          </a:prstGeom>
          <a:solidFill>
            <a:srgbClr val="111E34"/>
          </a:solidFill>
          <a:ln w="12700">
            <a:solidFill>
              <a:srgbClr val="1E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63240" y="1097280"/>
            <a:ext cx="2926080" cy="457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3154680" y="117043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Pain Points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0" y="151790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Hard to scale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00400" y="170078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3A0"/>
                </a:solidFill>
              </a:rPr>
              <a:t>Spring Boot + PySpark separate services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00400" y="19933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Infra overhead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00400" y="21762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3A0"/>
                </a:solidFill>
              </a:rPr>
              <a:t>Cloudera + MongoDB + Hazelcast to maintain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200400" y="24688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Slow recovery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00400" y="26517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3A0"/>
                </a:solidFill>
              </a:rPr>
              <a:t>Multi-tier fallback (MongoDB → ElasticCache → Hive)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00400" y="29443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Tight coupling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00400" y="31272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3A0"/>
                </a:solidFill>
              </a:rPr>
              <a:t>Each Kafka hop adds latency + ops complexity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200400" y="341985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DC coordination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00400" y="360273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3A0"/>
                </a:solidFill>
              </a:rPr>
              <a:t>Cross-DC FCFS race via Hazelcast is fragile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200400" y="389534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No cloud agility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00400" y="407822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3A0"/>
                </a:solidFill>
              </a:rPr>
              <a:t>On-prem cannot burst or auto-scale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72200" y="1097280"/>
            <a:ext cx="2697480" cy="3657600"/>
          </a:xfrm>
          <a:prstGeom prst="rect">
            <a:avLst/>
          </a:prstGeom>
          <a:solidFill>
            <a:srgbClr val="111E34"/>
          </a:solidFill>
          <a:ln w="12700">
            <a:solidFill>
              <a:srgbClr val="1E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72200" y="1097280"/>
            <a:ext cx="2697480" cy="45720"/>
          </a:xfrm>
          <a:prstGeom prst="rect">
            <a:avLst/>
          </a:prstGeom>
          <a:solidFill>
            <a:srgbClr val="15A57A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11704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Business Drivers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15179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FCE8"/>
                </a:solidFill>
              </a:rPr>
              <a:t>10s SLA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63640" y="170078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3A0"/>
                </a:solidFill>
              </a:rPr>
              <a:t>Real-time trade submission to regulator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63640" y="206654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FCE8"/>
                </a:solidFill>
              </a:rPr>
              <a:t>Active-Active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63640" y="224942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3A0"/>
                </a:solidFill>
              </a:rPr>
              <a:t>Two cloud DCs — AWS + GCP — no single point of failure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263640" y="261518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FCE8"/>
                </a:solidFill>
              </a:rPr>
              <a:t>Scalability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63640" y="27980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3A0"/>
                </a:solidFill>
              </a:rPr>
              <a:t>Handle 1M+ msgs/sec at peak market hours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263640" y="316382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FCE8"/>
                </a:solidFill>
              </a:rPr>
              <a:t>Compliance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263640" y="33467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3A0"/>
                </a:solidFill>
              </a:rPr>
              <a:t>7-year audit trail, DQ reporting, regulator schema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263640" y="37124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FCE8"/>
                </a:solidFill>
              </a:rPr>
              <a:t>Cost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63640" y="389534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3A0"/>
                </a:solidFill>
              </a:rPr>
              <a:t>Replace on-prem hardware with elastic cloud compute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Solution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3A0"/>
                </a:solidFill>
              </a:rPr>
              <a:t>Four Databricks clusters replace six separate systems — unified on Spark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3A0"/>
                </a:solidFill>
              </a:rPr>
              <a:t>3 / 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9601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8BDF8"/>
                </a:solidFill>
              </a:rPr>
              <a:t>One unified Databricks platform across AWS + GCP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28600" y="1417320"/>
            <a:ext cx="2103120" cy="3429000"/>
          </a:xfrm>
          <a:prstGeom prst="rect">
            <a:avLst/>
          </a:prstGeom>
          <a:solidFill>
            <a:srgbClr val="1A0535"/>
          </a:solidFill>
          <a:ln w="15240">
            <a:solidFill>
              <a:srgbClr val="9333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417320"/>
            <a:ext cx="2103120" cy="64008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" y="1481328"/>
            <a:ext cx="548640" cy="5486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1481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1752" y="21031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Cluster 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1752" y="235915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333EA"/>
                </a:solidFill>
              </a:rPr>
              <a:t>RTM — Real-Time Mode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633472"/>
            <a:ext cx="1920240" cy="22860"/>
          </a:xfrm>
          <a:prstGeom prst="rect">
            <a:avLst/>
          </a:prstGeom>
          <a:solidFill>
            <a:srgbClr val="1E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697480"/>
            <a:ext cx="19385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8D8F0"/>
                </a:solidFill>
              </a:rPr>
              <a:t>transformWithState + RocksDB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8D8F0"/>
                </a:solidFill>
              </a:rPr>
              <a:t>DQ Layers 1 + 2 inline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8D8F0"/>
                </a:solidFill>
              </a:rPr>
              <a:t>filter() + stateful rules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8D8F0"/>
                </a:solidFill>
              </a:rPr>
              <a:t>~10ms end-to-end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8D8F0"/>
                </a:solidFill>
              </a:rPr>
              <a:t>Dedicated compute · no autoscale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468880" y="1417320"/>
            <a:ext cx="2103120" cy="3429000"/>
          </a:xfrm>
          <a:prstGeom prst="rect">
            <a:avLst/>
          </a:prstGeom>
          <a:solidFill>
            <a:srgbClr val="2A1000"/>
          </a:solidFill>
          <a:ln w="15240">
            <a:solidFill>
              <a:srgbClr val="EA6C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68880" y="1417320"/>
            <a:ext cx="2103120" cy="64008"/>
          </a:xfrm>
          <a:prstGeom prst="rect">
            <a:avLst/>
          </a:prstGeom>
          <a:solidFill>
            <a:srgbClr val="EA6C1A"/>
          </a:solidFill>
          <a:ln/>
        </p:spPr>
      </p:sp>
      <p:sp>
        <p:nvSpPr>
          <p:cNvPr id="18" name="Shape 16"/>
          <p:cNvSpPr/>
          <p:nvPr/>
        </p:nvSpPr>
        <p:spPr>
          <a:xfrm>
            <a:off x="3246120" y="1481328"/>
            <a:ext cx="548640" cy="548640"/>
          </a:xfrm>
          <a:prstGeom prst="ellipse">
            <a:avLst/>
          </a:prstGeom>
          <a:solidFill>
            <a:srgbClr val="EA6C1A"/>
          </a:solidFill>
          <a:ln/>
        </p:spPr>
      </p:sp>
      <p:sp>
        <p:nvSpPr>
          <p:cNvPr id="19" name="Text 17"/>
          <p:cNvSpPr/>
          <p:nvPr/>
        </p:nvSpPr>
        <p:spPr>
          <a:xfrm>
            <a:off x="3246120" y="1481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542032" y="21031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Cluster 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42032" y="235915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A6C1A"/>
                </a:solidFill>
              </a:rPr>
              <a:t>SDP — Submission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560320" y="2633472"/>
            <a:ext cx="1920240" cy="22860"/>
          </a:xfrm>
          <a:prstGeom prst="rect">
            <a:avLst/>
          </a:prstGeom>
          <a:solidFill>
            <a:srgbClr val="1E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2560320" y="2697480"/>
            <a:ext cx="19385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8D8F0"/>
                </a:solidFill>
              </a:rPr>
              <a:t>DQ Layer 3 ITRS/pre-submission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8D8F0"/>
                </a:solidFill>
              </a:rPr>
              <a:t>Hazelcast CPMap putIfAbsent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8D8F0"/>
                </a:solidFill>
              </a:rPr>
              <a:t>IBM MQ winner post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8D8F0"/>
                </a:solidFill>
              </a:rPr>
              <a:t>100ms trigger · autoscale ON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8D8F0"/>
                </a:solidFill>
              </a:rPr>
              <a:t>Failure isolated from RTM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09160" y="1417320"/>
            <a:ext cx="2103120" cy="3429000"/>
          </a:xfrm>
          <a:prstGeom prst="rect">
            <a:avLst/>
          </a:prstGeom>
          <a:solidFill>
            <a:srgbClr val="001828"/>
          </a:solidFill>
          <a:ln w="15240">
            <a:solidFill>
              <a:srgbClr val="1A6E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1417320"/>
            <a:ext cx="2103120" cy="64008"/>
          </a:xfrm>
          <a:prstGeom prst="rect">
            <a:avLst/>
          </a:prstGeom>
          <a:solidFill>
            <a:srgbClr val="1A6ED4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0" y="1481328"/>
            <a:ext cx="548640" cy="548640"/>
          </a:xfrm>
          <a:prstGeom prst="ellipse">
            <a:avLst/>
          </a:prstGeom>
          <a:solidFill>
            <a:srgbClr val="1A6ED4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0" y="1481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782312" y="21031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Cluster C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82312" y="235915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6ED4"/>
                </a:solidFill>
              </a:rPr>
              <a:t>SDP — Persistence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00600" y="2633472"/>
            <a:ext cx="1920240" cy="22860"/>
          </a:xfrm>
          <a:prstGeom prst="rect">
            <a:avLst/>
          </a:prstGeom>
          <a:solidFill>
            <a:srgbClr val="1E3A5C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2697480"/>
            <a:ext cx="19385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8D8F0"/>
                </a:solidFill>
              </a:rPr>
              <a:t>reads validated-trades topic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8D8F0"/>
                </a:solidFill>
              </a:rPr>
              <a:t>Writes Delta gold tables (S3/GCS)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8D8F0"/>
                </a:solidFill>
              </a:rPr>
              <a:t>DynamoDB / Firestore hot store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8D8F0"/>
                </a:solidFill>
              </a:rPr>
              <a:t>Redis cache + Lakebase sync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8D8F0"/>
                </a:solidFill>
              </a:rPr>
              <a:t>30s trigger · autoscale ON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949440" y="1417320"/>
            <a:ext cx="2103120" cy="3429000"/>
          </a:xfrm>
          <a:prstGeom prst="rect">
            <a:avLst/>
          </a:prstGeom>
          <a:solidFill>
            <a:srgbClr val="001A10"/>
          </a:solidFill>
          <a:ln w="15240">
            <a:solidFill>
              <a:srgbClr val="15A57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49440" y="1417320"/>
            <a:ext cx="2103120" cy="64008"/>
          </a:xfrm>
          <a:prstGeom prst="rect">
            <a:avLst/>
          </a:prstGeom>
          <a:solidFill>
            <a:srgbClr val="15A57A"/>
          </a:solidFill>
          <a:ln/>
        </p:spPr>
      </p:sp>
      <p:sp>
        <p:nvSpPr>
          <p:cNvPr id="34" name="Shape 32"/>
          <p:cNvSpPr/>
          <p:nvPr/>
        </p:nvSpPr>
        <p:spPr>
          <a:xfrm>
            <a:off x="7726680" y="1481328"/>
            <a:ext cx="548640" cy="548640"/>
          </a:xfrm>
          <a:prstGeom prst="ellipse">
            <a:avLst/>
          </a:prstGeom>
          <a:solidFill>
            <a:srgbClr val="15A57A"/>
          </a:solidFill>
          <a:ln/>
        </p:spPr>
      </p:sp>
      <p:sp>
        <p:nvSpPr>
          <p:cNvPr id="35" name="Text 33"/>
          <p:cNvSpPr/>
          <p:nvPr/>
        </p:nvSpPr>
        <p:spPr>
          <a:xfrm>
            <a:off x="7726680" y="1481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022592" y="21031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Cluster 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022592" y="235915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5A57A"/>
                </a:solidFill>
              </a:rPr>
              <a:t>SDP — Feedback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040880" y="2633472"/>
            <a:ext cx="1920240" cy="22860"/>
          </a:xfrm>
          <a:prstGeom prst="rect">
            <a:avLst/>
          </a:prstGeom>
          <a:solidFill>
            <a:srgbClr val="1E3A5C"/>
          </a:solidFill>
          <a:ln/>
        </p:spPr>
      </p:sp>
      <p:sp>
        <p:nvSpPr>
          <p:cNvPr id="39" name="Text 37"/>
          <p:cNvSpPr/>
          <p:nvPr/>
        </p:nvSpPr>
        <p:spPr>
          <a:xfrm>
            <a:off x="7040880" y="2697480"/>
            <a:ext cx="19385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8D8F0"/>
                </a:solidFill>
              </a:rPr>
              <a:t>Reads feedback-inbound topic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8D8F0"/>
                </a:solidFill>
              </a:rPr>
              <a:t>Parses + deduplicates acks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8D8F0"/>
                </a:solidFill>
              </a:rPr>
              <a:t>Writes state-updates → RTM A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8D8F0"/>
                </a:solidFill>
              </a:rPr>
              <a:t>gold.regulator_acks Delta table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8D8F0"/>
                </a:solidFill>
              </a:rPr>
              <a:t>Closes the feedback loop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331720" y="3127248"/>
            <a:ext cx="0" cy="0"/>
          </a:xfrm>
          <a:prstGeom prst="line">
            <a:avLst/>
          </a:prstGeom>
          <a:noFill/>
          <a:ln w="12700">
            <a:solidFill>
              <a:srgbClr val="1E3A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331720" y="29992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83A0"/>
                </a:solidFill>
              </a:rPr>
              <a:t>→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572000" y="3127248"/>
            <a:ext cx="0" cy="0"/>
          </a:xfrm>
          <a:prstGeom prst="line">
            <a:avLst/>
          </a:prstGeom>
          <a:noFill/>
          <a:ln w="12700">
            <a:solidFill>
              <a:srgbClr val="1E3A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0" y="29992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83A0"/>
                </a:solidFill>
              </a:rPr>
              <a:t>→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812280" y="3127248"/>
            <a:ext cx="0" cy="0"/>
          </a:xfrm>
          <a:prstGeom prst="line">
            <a:avLst/>
          </a:prstGeom>
          <a:noFill/>
          <a:ln w="12700">
            <a:solidFill>
              <a:srgbClr val="1E3A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12280" y="29992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83A0"/>
                </a:solidFill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Real-Time Pipeline — Cluster A + 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3A0"/>
                </a:solidFill>
              </a:rPr>
              <a:t>Trade arrival → DQ → transformWithState → Hazelcast FCFS → IBM MQ in ~77ms p50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3A0"/>
                </a:solidFill>
              </a:rPr>
              <a:t>4 / 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64592" y="1234440"/>
            <a:ext cx="1143000" cy="1371600"/>
          </a:xfrm>
          <a:prstGeom prst="rect">
            <a:avLst/>
          </a:prstGeom>
          <a:solidFill>
            <a:srgbClr val="0F1525"/>
          </a:solidFill>
          <a:ln w="12700">
            <a:solidFill>
              <a:srgbClr val="6B83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4592" y="1234440"/>
            <a:ext cx="1143000" cy="54864"/>
          </a:xfrm>
          <a:prstGeom prst="rect">
            <a:avLst/>
          </a:prstGeom>
          <a:solidFill>
            <a:srgbClr val="6B83A0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" y="1325880"/>
            <a:ext cx="1069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Solace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RIO Bus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1168" y="1920240"/>
            <a:ext cx="1069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3A0"/>
                </a:solidFill>
              </a:rPr>
              <a:t>inbound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307592" y="1600200"/>
            <a:ext cx="100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C"/>
                </a:solidFill>
              </a:rPr>
              <a:t>›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408176" y="1234440"/>
            <a:ext cx="1143000" cy="1371600"/>
          </a:xfrm>
          <a:prstGeom prst="rect">
            <a:avLst/>
          </a:prstGeom>
          <a:solidFill>
            <a:srgbClr val="130A2A"/>
          </a:solidFill>
          <a:ln w="12700">
            <a:solidFill>
              <a:srgbClr val="5B21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408176" y="1234440"/>
            <a:ext cx="1143000" cy="54864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14" name="Text 12"/>
          <p:cNvSpPr/>
          <p:nvPr/>
        </p:nvSpPr>
        <p:spPr>
          <a:xfrm>
            <a:off x="1444752" y="1325880"/>
            <a:ext cx="1069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MSK / Confluent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44752" y="1920240"/>
            <a:ext cx="1069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21B6"/>
                </a:solidFill>
              </a:rPr>
              <a:t>raw-trades topic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551176" y="1600200"/>
            <a:ext cx="100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C"/>
                </a:solidFill>
              </a:rPr>
              <a:t>›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651760" y="1234440"/>
            <a:ext cx="1143000" cy="1371600"/>
          </a:xfrm>
          <a:prstGeom prst="rect">
            <a:avLst/>
          </a:prstGeom>
          <a:solidFill>
            <a:srgbClr val="061A08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651760" y="1234440"/>
            <a:ext cx="114300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2688336" y="1325880"/>
            <a:ext cx="1069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DQ Layer 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filter()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88336" y="1920240"/>
            <a:ext cx="1069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A34A"/>
                </a:solidFill>
              </a:rPr>
              <a:t>~0ms · stateless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794760" y="1600200"/>
            <a:ext cx="100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C"/>
                </a:solidFill>
              </a:rPr>
              <a:t>›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895344" y="1234440"/>
            <a:ext cx="1143000" cy="1371600"/>
          </a:xfrm>
          <a:prstGeom prst="rect">
            <a:avLst/>
          </a:prstGeom>
          <a:solidFill>
            <a:srgbClr val="1E0830"/>
          </a:solidFill>
          <a:ln w="12700">
            <a:solidFill>
              <a:srgbClr val="9333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95344" y="1234440"/>
            <a:ext cx="1143000" cy="54864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24" name="Text 22"/>
          <p:cNvSpPr/>
          <p:nvPr/>
        </p:nvSpPr>
        <p:spPr>
          <a:xfrm>
            <a:off x="3931920" y="1325880"/>
            <a:ext cx="1069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transformWith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931920" y="1920240"/>
            <a:ext cx="1069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9333EA"/>
                </a:solidFill>
              </a:rPr>
              <a:t>DQ L2 · RocksDB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038344" y="1600200"/>
            <a:ext cx="100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C"/>
                </a:solidFill>
              </a:rPr>
              <a:t>›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138928" y="1234440"/>
            <a:ext cx="1143000" cy="1371600"/>
          </a:xfrm>
          <a:prstGeom prst="rect">
            <a:avLst/>
          </a:prstGeom>
          <a:solidFill>
            <a:srgbClr val="130A2A"/>
          </a:solidFill>
          <a:ln w="12700">
            <a:solidFill>
              <a:srgbClr val="5B21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138928" y="1234440"/>
            <a:ext cx="1143000" cy="54864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29" name="Text 27"/>
          <p:cNvSpPr/>
          <p:nvPr/>
        </p:nvSpPr>
        <p:spPr>
          <a:xfrm>
            <a:off x="5175504" y="1325880"/>
            <a:ext cx="1069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Kafka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validated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75504" y="1920240"/>
            <a:ext cx="1069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21B6"/>
                </a:solidFill>
              </a:rPr>
              <a:t>~10ms hop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281928" y="1600200"/>
            <a:ext cx="100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C"/>
                </a:solidFill>
              </a:rPr>
              <a:t>›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382512" y="1234440"/>
            <a:ext cx="1143000" cy="1371600"/>
          </a:xfrm>
          <a:prstGeom prst="rect">
            <a:avLst/>
          </a:prstGeom>
          <a:solidFill>
            <a:srgbClr val="1A1000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382512" y="1234440"/>
            <a:ext cx="1143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2"/>
          <p:cNvSpPr/>
          <p:nvPr/>
        </p:nvSpPr>
        <p:spPr>
          <a:xfrm>
            <a:off x="6419088" y="1325880"/>
            <a:ext cx="1069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DQ L3 + HZ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putIfAbsent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19088" y="1920240"/>
            <a:ext cx="1069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D97706"/>
                </a:solidFill>
              </a:rPr>
              <a:t>~12ms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7525512" y="1600200"/>
            <a:ext cx="100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C"/>
                </a:solidFill>
              </a:rPr>
              <a:t>›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626096" y="1234440"/>
            <a:ext cx="1143000" cy="1371600"/>
          </a:xfrm>
          <a:prstGeom prst="rect">
            <a:avLst/>
          </a:prstGeom>
          <a:solidFill>
            <a:srgbClr val="1E0800"/>
          </a:solidFill>
          <a:ln w="12700">
            <a:solidFill>
              <a:srgbClr val="C241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626096" y="1234440"/>
            <a:ext cx="1143000" cy="54864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9" name="Text 37"/>
          <p:cNvSpPr/>
          <p:nvPr/>
        </p:nvSpPr>
        <p:spPr>
          <a:xfrm>
            <a:off x="7662672" y="1325880"/>
            <a:ext cx="1069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IBM MQ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Regulator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662672" y="1920240"/>
            <a:ext cx="1069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C2410C"/>
                </a:solidFill>
              </a:rPr>
              <a:t>winner posts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64592" y="2697480"/>
            <a:ext cx="4956048" cy="256032"/>
          </a:xfrm>
          <a:prstGeom prst="rect">
            <a:avLst/>
          </a:prstGeom>
          <a:solidFill>
            <a:srgbClr val="1E0830"/>
          </a:solidFill>
          <a:ln w="9525">
            <a:solidFill>
              <a:srgbClr val="9333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032" y="2697480"/>
            <a:ext cx="4773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33EA"/>
                </a:solidFill>
              </a:rPr>
              <a:t>CLUSTER A — RTM (dedicated, no autoscale)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449824" y="2697480"/>
            <a:ext cx="3529584" cy="256032"/>
          </a:xfrm>
          <a:prstGeom prst="rect">
            <a:avLst/>
          </a:prstGeom>
          <a:solidFill>
            <a:srgbClr val="2A1000"/>
          </a:solidFill>
          <a:ln w="9525">
            <a:solidFill>
              <a:srgbClr val="EA6C1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41264" y="2697480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6C1A"/>
                </a:solidFill>
              </a:rPr>
              <a:t>CLUSTER B — SDP (autoscale ON · 100ms trigger)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28600" y="3063240"/>
            <a:ext cx="2103120" cy="1783080"/>
          </a:xfrm>
          <a:prstGeom prst="rect">
            <a:avLst/>
          </a:prstGeom>
          <a:solidFill>
            <a:srgbClr val="111E34"/>
          </a:solidFill>
          <a:ln w="12700">
            <a:solidFill>
              <a:srgbClr val="1E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28600" y="3063240"/>
            <a:ext cx="21031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7" name="Text 45"/>
          <p:cNvSpPr/>
          <p:nvPr/>
        </p:nvSpPr>
        <p:spPr>
          <a:xfrm>
            <a:off x="320040" y="31272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DQ Validation — 3 layers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20040" y="3438144"/>
            <a:ext cx="19202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D8F0"/>
                </a:solidFill>
              </a:rPr>
              <a:t>L1: filter() stateless ~0ms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8F0"/>
                </a:solidFill>
              </a:rPr>
              <a:t>L2: transformWithState RocksDB stateful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8F0"/>
                </a:solidFill>
              </a:rPr>
              <a:t>L3: ITRS pre-submission check in SDP-B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468880" y="3063240"/>
            <a:ext cx="2103120" cy="1783080"/>
          </a:xfrm>
          <a:prstGeom prst="rect">
            <a:avLst/>
          </a:prstGeom>
          <a:solidFill>
            <a:srgbClr val="111E34"/>
          </a:solidFill>
          <a:ln w="12700">
            <a:solidFill>
              <a:srgbClr val="1E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2468880" y="3063240"/>
            <a:ext cx="210312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1" name="Text 49"/>
          <p:cNvSpPr/>
          <p:nvPr/>
        </p:nvSpPr>
        <p:spPr>
          <a:xfrm>
            <a:off x="2560320" y="31272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FCFS Winner Selection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560320" y="3438144"/>
            <a:ext cx="19202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D8F0"/>
                </a:solidFill>
              </a:rPr>
              <a:t>Hazelcast CPMap.putIfAbsent(trade_id)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8F0"/>
                </a:solidFill>
              </a:rPr>
              <a:t>Returns None=winner · value=loser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8F0"/>
                </a:solidFill>
              </a:rPr>
              <a:t>CP Raft · permanent claim · 48hr TTL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709160" y="3063240"/>
            <a:ext cx="2103120" cy="1783080"/>
          </a:xfrm>
          <a:prstGeom prst="rect">
            <a:avLst/>
          </a:prstGeom>
          <a:solidFill>
            <a:srgbClr val="111E34"/>
          </a:solidFill>
          <a:ln w="12700">
            <a:solidFill>
              <a:srgbClr val="1E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709160" y="3063240"/>
            <a:ext cx="2103120" cy="45720"/>
          </a:xfrm>
          <a:prstGeom prst="rect">
            <a:avLst/>
          </a:prstGeom>
          <a:solidFill>
            <a:srgbClr val="1A6ED4"/>
          </a:solidFill>
          <a:ln/>
        </p:spPr>
      </p:sp>
      <p:sp>
        <p:nvSpPr>
          <p:cNvPr id="55" name="Text 53"/>
          <p:cNvSpPr/>
          <p:nvPr/>
        </p:nvSpPr>
        <p:spPr>
          <a:xfrm>
            <a:off x="4800600" y="31272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Failure Isolation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800600" y="3438144"/>
            <a:ext cx="19202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D8F0"/>
                </a:solidFill>
              </a:rPr>
              <a:t>RTM only writes to Kafka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8F0"/>
                </a:solidFill>
              </a:rPr>
              <a:t>SDP-B handles HZ+MQ independently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8F0"/>
                </a:solidFill>
              </a:rPr>
              <a:t>MQ spike never stalls RTM epoch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949440" y="3063240"/>
            <a:ext cx="2103120" cy="1783080"/>
          </a:xfrm>
          <a:prstGeom prst="rect">
            <a:avLst/>
          </a:prstGeom>
          <a:solidFill>
            <a:srgbClr val="111E34"/>
          </a:solidFill>
          <a:ln w="12700">
            <a:solidFill>
              <a:srgbClr val="1E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949440" y="3063240"/>
            <a:ext cx="2103120" cy="45720"/>
          </a:xfrm>
          <a:prstGeom prst="rect">
            <a:avLst/>
          </a:prstGeom>
          <a:solidFill>
            <a:srgbClr val="15A57A"/>
          </a:solidFill>
          <a:ln/>
        </p:spPr>
      </p:sp>
      <p:sp>
        <p:nvSpPr>
          <p:cNvPr id="59" name="Text 57"/>
          <p:cNvSpPr/>
          <p:nvPr/>
        </p:nvSpPr>
        <p:spPr>
          <a:xfrm>
            <a:off x="7040880" y="31272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Feedback Loop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040880" y="3438144"/>
            <a:ext cx="19202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D8F0"/>
                </a:solidFill>
              </a:rPr>
              <a:t>Regulator ack → feedback-inbound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8F0"/>
                </a:solidFill>
              </a:rPr>
              <a:t>Cluster D → state-updates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8D8F0"/>
                </a:solidFill>
              </a:rPr>
              <a:t>→ RTM union() → RocksDB update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"/>
          </a:xfrm>
          <a:prstGeom prst="rect">
            <a:avLst/>
          </a:prstGeom>
          <a:solidFill>
            <a:srgbClr val="1A6ED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Active-Active Dual Cloud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3A0"/>
                </a:solidFill>
              </a:rPr>
              <a:t>AWS and GCP both process every trade — Hazelcast CP decides the winner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3A0"/>
                </a:solidFill>
              </a:rPr>
              <a:t>5 / 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82880" y="1005840"/>
            <a:ext cx="3474720" cy="3840480"/>
          </a:xfrm>
          <a:prstGeom prst="rect">
            <a:avLst/>
          </a:prstGeom>
          <a:solidFill>
            <a:srgbClr val="080E1C"/>
          </a:solidFill>
          <a:ln w="15240">
            <a:solidFill>
              <a:srgbClr val="1A6E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005840"/>
            <a:ext cx="3474720" cy="54864"/>
          </a:xfrm>
          <a:prstGeom prst="rect">
            <a:avLst/>
          </a:prstGeom>
          <a:solidFill>
            <a:srgbClr val="1A6ED4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07899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AWS — Primary DC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" y="1463040"/>
            <a:ext cx="3236976" cy="384048"/>
          </a:xfrm>
          <a:prstGeom prst="rect">
            <a:avLst/>
          </a:prstGeom>
          <a:solidFill>
            <a:srgbClr val="111E34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481328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0"/>
                </a:solidFill>
              </a:rPr>
              <a:t>MSK / Confluent · raw-trades-aws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92608" y="1956816"/>
            <a:ext cx="3236976" cy="384048"/>
          </a:xfrm>
          <a:prstGeom prst="rect">
            <a:avLst/>
          </a:prstGeom>
          <a:solidFill>
            <a:srgbClr val="111E34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975104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0"/>
                </a:solidFill>
              </a:rPr>
              <a:t>RTM Cluster A (EQ + FI trades)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92608" y="2450592"/>
            <a:ext cx="3236976" cy="384048"/>
          </a:xfrm>
          <a:prstGeom prst="rect">
            <a:avLst/>
          </a:prstGeom>
          <a:solidFill>
            <a:srgbClr val="111E34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468880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0"/>
                </a:solidFill>
              </a:rPr>
              <a:t>SDP Cluster B · submission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92608" y="2944368"/>
            <a:ext cx="3236976" cy="384048"/>
          </a:xfrm>
          <a:prstGeom prst="rect">
            <a:avLst/>
          </a:prstGeom>
          <a:solidFill>
            <a:srgbClr val="111E34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962656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0"/>
                </a:solidFill>
              </a:rPr>
              <a:t>DynamoDB + ElastiCache Redis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92608" y="3438144"/>
            <a:ext cx="3236976" cy="384048"/>
          </a:xfrm>
          <a:prstGeom prst="rect">
            <a:avLst/>
          </a:prstGeom>
          <a:solidFill>
            <a:srgbClr val="111E34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456432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0"/>
                </a:solidFill>
              </a:rPr>
              <a:t>Delta Lake S3 · Lakebase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92608" y="3931920"/>
            <a:ext cx="3236976" cy="384048"/>
          </a:xfrm>
          <a:prstGeom prst="rect">
            <a:avLst/>
          </a:prstGeom>
          <a:solidFill>
            <a:srgbClr val="111E34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950208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0"/>
                </a:solidFill>
              </a:rPr>
              <a:t>Hazelcast client → ~10ms to HZ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86400" y="1005840"/>
            <a:ext cx="3474720" cy="3840480"/>
          </a:xfrm>
          <a:prstGeom prst="rect">
            <a:avLst/>
          </a:prstGeom>
          <a:solidFill>
            <a:srgbClr val="040E0A"/>
          </a:solidFill>
          <a:ln w="15240">
            <a:solidFill>
              <a:srgbClr val="15A5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0" y="1005840"/>
            <a:ext cx="3474720" cy="54864"/>
          </a:xfrm>
          <a:prstGeom prst="rect">
            <a:avLst/>
          </a:prstGeom>
          <a:solidFill>
            <a:srgbClr val="15A57A"/>
          </a:solidFill>
          <a:ln/>
        </p:spPr>
      </p:sp>
      <p:sp>
        <p:nvSpPr>
          <p:cNvPr id="24" name="Text 22"/>
          <p:cNvSpPr/>
          <p:nvPr/>
        </p:nvSpPr>
        <p:spPr>
          <a:xfrm>
            <a:off x="5577840" y="107899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GCP — Secondary DC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596128" y="1463040"/>
            <a:ext cx="3236976" cy="384048"/>
          </a:xfrm>
          <a:prstGeom prst="rect">
            <a:avLst/>
          </a:prstGeom>
          <a:solidFill>
            <a:srgbClr val="0A1A10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87568" y="1481328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0"/>
                </a:solidFill>
              </a:rPr>
              <a:t>Confluent Cloud · raw-trades-gcp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596128" y="1956816"/>
            <a:ext cx="3236976" cy="384048"/>
          </a:xfrm>
          <a:prstGeom prst="rect">
            <a:avLst/>
          </a:prstGeom>
          <a:solidFill>
            <a:srgbClr val="0A1A10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87568" y="1975104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0"/>
                </a:solidFill>
              </a:rPr>
              <a:t>RTM Cluster A (FX + DERIV trades)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596128" y="2450592"/>
            <a:ext cx="3236976" cy="384048"/>
          </a:xfrm>
          <a:prstGeom prst="rect">
            <a:avLst/>
          </a:prstGeom>
          <a:solidFill>
            <a:srgbClr val="0A1A10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87568" y="2468880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0"/>
                </a:solidFill>
              </a:rPr>
              <a:t>SDP Cluster B · submission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596128" y="2944368"/>
            <a:ext cx="3236976" cy="384048"/>
          </a:xfrm>
          <a:prstGeom prst="rect">
            <a:avLst/>
          </a:prstGeom>
          <a:solidFill>
            <a:srgbClr val="0A1A10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87568" y="2962656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0"/>
                </a:solidFill>
              </a:rPr>
              <a:t>Firestore + Memorystore Redis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596128" y="3438144"/>
            <a:ext cx="3236976" cy="384048"/>
          </a:xfrm>
          <a:prstGeom prst="rect">
            <a:avLst/>
          </a:prstGeom>
          <a:solidFill>
            <a:srgbClr val="0A1A10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87568" y="3456432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0"/>
                </a:solidFill>
              </a:rPr>
              <a:t>Delta Lake GCS · Lakebase (preview)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596128" y="3931920"/>
            <a:ext cx="3236976" cy="384048"/>
          </a:xfrm>
          <a:prstGeom prst="rect">
            <a:avLst/>
          </a:prstGeom>
          <a:solidFill>
            <a:srgbClr val="0A1A10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87568" y="3950208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0"/>
                </a:solidFill>
              </a:rPr>
              <a:t>Hazelcast client → ~12ms to HZ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840480" y="1645920"/>
            <a:ext cx="1463040" cy="2377440"/>
          </a:xfrm>
          <a:prstGeom prst="rect">
            <a:avLst/>
          </a:prstGeom>
          <a:solidFill>
            <a:srgbClr val="1A1200"/>
          </a:solidFill>
          <a:ln w="1524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840480" y="1645920"/>
            <a:ext cx="146304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9" name="Text 37"/>
          <p:cNvSpPr/>
          <p:nvPr/>
        </p:nvSpPr>
        <p:spPr>
          <a:xfrm>
            <a:off x="3858768" y="1737360"/>
            <a:ext cx="1426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Hazelcast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Cloud SaaS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858768" y="2231136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97706"/>
                </a:solidFill>
              </a:rPr>
              <a:t>CPMap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97706"/>
                </a:solidFill>
              </a:rPr>
              <a:t>putIfAbsent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858768" y="2651760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3A0"/>
                </a:solidFill>
              </a:rPr>
              <a:t>Raft CP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83A0"/>
                </a:solidFill>
              </a:rPr>
              <a:t>5 members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858768" y="3017520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AWS ~10ms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GCP ~12ms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858768" y="3438144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FCE8"/>
                </a:solidFill>
              </a:rPr>
              <a:t>Neutral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CFCE8"/>
                </a:solidFill>
              </a:rPr>
              <a:t>no cloud bias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611880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6ED4"/>
                </a:solidFill>
              </a:rPr>
              <a:t>→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257800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A57A"/>
                </a:solidFill>
              </a:rPr>
              <a:t>←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474720" y="4572000"/>
            <a:ext cx="2194560" cy="457200"/>
          </a:xfrm>
          <a:prstGeom prst="rect">
            <a:avLst/>
          </a:prstGeom>
          <a:solidFill>
            <a:srgbClr val="1E0800"/>
          </a:solidFill>
          <a:ln w="15240">
            <a:solidFill>
              <a:srgbClr val="C2410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547872" y="457200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2410C"/>
                </a:solidFill>
              </a:rPr>
              <a:t>IBM MQ → Regulator   (winner only)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434840" y="407822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3A0"/>
                </a:solidFill>
              </a:rPr>
              <a:t>↓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FCFS Winner Selection — Hazelcast CPMap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3A0"/>
                </a:solidFill>
              </a:rPr>
              <a:t>putIfAbsent replaces FencedLock — permanent claim, not temporary hold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3A0"/>
                </a:solidFill>
              </a:rPr>
              <a:t>6 / 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1005840"/>
            <a:ext cx="4023360" cy="3840480"/>
          </a:xfrm>
          <a:prstGeom prst="rect">
            <a:avLst/>
          </a:prstGeom>
          <a:solidFill>
            <a:srgbClr val="1A0508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005840"/>
            <a:ext cx="4023360" cy="6400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0972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A5A5"/>
                </a:solidFill>
              </a:rPr>
              <a:t>✗  FencedLock — WRONG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463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lock.try_lock_and_get_fence()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0040" y="17556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mq_client.put(message)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0040" y="20482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lock.unlock()  ← CLEARS HZ STATE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0040" y="23408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0040" y="26334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GCP arrives 3ms later: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0040" y="2926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lock.try_lock_and_get_fence()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0040" y="32186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SUCCESS! Lock free again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0040" y="35112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mq_client.put(message)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20040" y="38039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DUPLICATE SUBMISSION!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0040" y="42062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A5A5"/>
                </a:solidFill>
              </a:rPr>
              <a:t>Lock releases → Hazelcast forgets the claim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CA5A5"/>
                </a:solidFill>
              </a:rPr>
              <a:t>GCP acquires same lock → both DCs post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434840" y="1005840"/>
            <a:ext cx="4480560" cy="3840480"/>
          </a:xfrm>
          <a:prstGeom prst="rect">
            <a:avLst/>
          </a:prstGeom>
          <a:solidFill>
            <a:srgbClr val="001A08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4840" y="1005840"/>
            <a:ext cx="4480560" cy="640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2" name="Text 20"/>
          <p:cNvSpPr/>
          <p:nvPr/>
        </p:nvSpPr>
        <p:spPr>
          <a:xfrm>
            <a:off x="4526280" y="10972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6EFAC"/>
                </a:solidFill>
              </a:rPr>
              <a:t>✓  CPMap.putIfAbsent — CORRECT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26280" y="14630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 = hz.cp_subsystem.get_map("claims")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26280" y="17373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claim.put_if_absent(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26280" y="20116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trade_id, SOURCE_DC,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26280" y="22860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ttl=timedelta(hours=48)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26280" y="25603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26280" y="28346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result is None:  # WINNER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26280" y="31089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mq_client.put(build_message(row))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26280" y="33832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               # LOSER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26280" y="36576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  # discard silently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26280" y="41148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</a:rPr>
              <a:t>Claim persists 48hr via TTL  ·  GCP arrives later → sees "aws" → discards  ·  No unlock, no race window.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Data Quality — Three Validation Layers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3A0"/>
                </a:solidFill>
              </a:rPr>
              <a:t>Inline stateless → stateful → pre-submission — zero added latency to RTM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3A0"/>
                </a:solidFill>
              </a:rPr>
              <a:t>7 / 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1005840"/>
            <a:ext cx="2816352" cy="3886200"/>
          </a:xfrm>
          <a:prstGeom prst="rect">
            <a:avLst/>
          </a:prstGeom>
          <a:solidFill>
            <a:srgbClr val="111E34"/>
          </a:solidFill>
          <a:ln w="12700">
            <a:solidFill>
              <a:srgbClr val="1E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005840"/>
            <a:ext cx="2816352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1078992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1097280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filter() — Stateless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78024" y="1408176"/>
            <a:ext cx="475488" cy="20116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2478024" y="1408176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~0ms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20040" y="162763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A34A"/>
                </a:solidFill>
              </a:rPr>
              <a:t>RTM Cluster A · before transformWithState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20040" y="1892808"/>
            <a:ext cx="2651760" cy="18288"/>
          </a:xfrm>
          <a:prstGeom prst="rect">
            <a:avLst/>
          </a:prstGeom>
          <a:solidFill>
            <a:srgbClr val="1E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1956816"/>
            <a:ext cx="2651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8D8F0"/>
                </a:solidFill>
              </a:rPr>
              <a:t>NULL checks: trade_id, notional, counterparty_id, trade_date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8D8F0"/>
                </a:solidFill>
              </a:rPr>
              <a:t>Range: notional &gt; 0, trade_date &gt; T-5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8D8F0"/>
                </a:solidFill>
              </a:rPr>
              <a:t>Whitelist: instrument_type IN (EQ, FX, FI, DERIV)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8D8F0"/>
                </a:solidFill>
              </a:rPr>
              <a:t>Mandatory fields: LEI format, ISIN present for EQ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8D8F0"/>
                </a:solidFill>
              </a:rPr>
              <a:t>SQL predicates → compiled JVM filter — pure CPU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172968" y="1005840"/>
            <a:ext cx="2816352" cy="3886200"/>
          </a:xfrm>
          <a:prstGeom prst="rect">
            <a:avLst/>
          </a:prstGeom>
          <a:solidFill>
            <a:srgbClr val="111E34"/>
          </a:solidFill>
          <a:ln w="12700">
            <a:solidFill>
              <a:srgbClr val="1E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72968" y="1005840"/>
            <a:ext cx="2816352" cy="4572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9" name="Shape 17"/>
          <p:cNvSpPr/>
          <p:nvPr/>
        </p:nvSpPr>
        <p:spPr>
          <a:xfrm>
            <a:off x="3264408" y="1078992"/>
            <a:ext cx="457200" cy="45720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20" name="Text 18"/>
          <p:cNvSpPr/>
          <p:nvPr/>
        </p:nvSpPr>
        <p:spPr>
          <a:xfrm>
            <a:off x="3264408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13048" y="1097280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transformWithState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22392" y="1408176"/>
            <a:ext cx="475488" cy="201168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23" name="Text 21"/>
          <p:cNvSpPr/>
          <p:nvPr/>
        </p:nvSpPr>
        <p:spPr>
          <a:xfrm>
            <a:off x="5422392" y="1408176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~1ms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264408" y="162763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333EA"/>
                </a:solidFill>
              </a:rPr>
              <a:t>RTM Cluster A · inside handleInputRows()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264408" y="1892808"/>
            <a:ext cx="2651760" cy="18288"/>
          </a:xfrm>
          <a:prstGeom prst="rect">
            <a:avLst/>
          </a:prstGeom>
          <a:solidFill>
            <a:srgbClr val="1E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3264408" y="1956816"/>
            <a:ext cx="2651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8D8F0"/>
                </a:solidFill>
              </a:rPr>
              <a:t>Duplicate trade_id detection (ValueState per trade_id)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8D8F0"/>
                </a:solidFill>
              </a:rPr>
              <a:t>Sequence number gap check (ListState per trade_id)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8D8F0"/>
                </a:solidFill>
              </a:rPr>
              <a:t>Counterparty exposure breach (MapState per cpty_id)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8D8F0"/>
                </a:solidFill>
              </a:rPr>
              <a:t>Time-window anomaly: two trades same instrument &lt;1ms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8D8F0"/>
                </a:solidFill>
              </a:rPr>
              <a:t>Cross-field: FX trade must have currency pair + notional ccy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117336" y="1005840"/>
            <a:ext cx="2816352" cy="3886200"/>
          </a:xfrm>
          <a:prstGeom prst="rect">
            <a:avLst/>
          </a:prstGeom>
          <a:solidFill>
            <a:srgbClr val="111E34"/>
          </a:solidFill>
          <a:ln w="12700">
            <a:solidFill>
              <a:srgbClr val="1E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17336" y="1005840"/>
            <a:ext cx="2816352" cy="45720"/>
          </a:xfrm>
          <a:prstGeom prst="rect">
            <a:avLst/>
          </a:prstGeom>
          <a:solidFill>
            <a:srgbClr val="EA6C1A"/>
          </a:solidFill>
          <a:ln/>
        </p:spPr>
      </p:sp>
      <p:sp>
        <p:nvSpPr>
          <p:cNvPr id="29" name="Shape 27"/>
          <p:cNvSpPr/>
          <p:nvPr/>
        </p:nvSpPr>
        <p:spPr>
          <a:xfrm>
            <a:off x="6208776" y="1078992"/>
            <a:ext cx="457200" cy="457200"/>
          </a:xfrm>
          <a:prstGeom prst="ellipse">
            <a:avLst/>
          </a:prstGeom>
          <a:solidFill>
            <a:srgbClr val="EA6C1A"/>
          </a:solidFill>
          <a:ln/>
        </p:spPr>
      </p:sp>
      <p:sp>
        <p:nvSpPr>
          <p:cNvPr id="30" name="Text 28"/>
          <p:cNvSpPr/>
          <p:nvPr/>
        </p:nvSpPr>
        <p:spPr>
          <a:xfrm>
            <a:off x="6208776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757416" y="1097280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Pre-Submission ITRS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366760" y="1408176"/>
            <a:ext cx="475488" cy="201168"/>
          </a:xfrm>
          <a:prstGeom prst="rect">
            <a:avLst/>
          </a:prstGeom>
          <a:solidFill>
            <a:srgbClr val="EA6C1A"/>
          </a:solidFill>
          <a:ln/>
        </p:spPr>
      </p:sp>
      <p:sp>
        <p:nvSpPr>
          <p:cNvPr id="33" name="Text 31"/>
          <p:cNvSpPr/>
          <p:nvPr/>
        </p:nvSpPr>
        <p:spPr>
          <a:xfrm>
            <a:off x="8366760" y="1408176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~1ms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208776" y="162763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A6C1A"/>
                </a:solidFill>
              </a:rPr>
              <a:t>SDP Cluster B · before Hazelcast claim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208776" y="1892808"/>
            <a:ext cx="2651760" cy="18288"/>
          </a:xfrm>
          <a:prstGeom prst="rect">
            <a:avLst/>
          </a:prstGeom>
          <a:solidFill>
            <a:srgbClr val="1E3A5C"/>
          </a:solidFill>
          <a:ln/>
        </p:spPr>
      </p:sp>
      <p:sp>
        <p:nvSpPr>
          <p:cNvPr id="36" name="Text 34"/>
          <p:cNvSpPr/>
          <p:nvPr/>
        </p:nvSpPr>
        <p:spPr>
          <a:xfrm>
            <a:off x="6208776" y="1956816"/>
            <a:ext cx="2651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8D8F0"/>
                </a:solidFill>
              </a:rPr>
              <a:t>Regulator schema validation (EMIR / MAS / CFTC field mapping)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8D8F0"/>
                </a:solidFill>
              </a:rPr>
              <a:t>UTI format and uniqueness check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8D8F0"/>
                </a:solidFill>
              </a:rPr>
              <a:t>LEI validation against Lakebase lookup table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8D8F0"/>
                </a:solidFill>
              </a:rPr>
              <a:t>Payload size check for IBM MQ max message size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8D8F0"/>
                </a:solidFill>
              </a:rPr>
              <a:t>Run BEFORE putIfAbsent — reject before claiming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28600" y="4773168"/>
            <a:ext cx="8686800" cy="274320"/>
          </a:xfrm>
          <a:prstGeom prst="rect">
            <a:avLst/>
          </a:prstGeom>
          <a:solidFill>
            <a:srgbClr val="1A0508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A5A5"/>
                </a:solidFill>
              </a:rPr>
              <a:t>On failure at any layer: route to dead-letter Kafka topic → Cluster C persists to gold.dq_failures Delta table (7-year retention)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State Management — RocksDB + Fallback Chain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3A0"/>
                </a:solidFill>
              </a:rPr>
              <a:t>Replaces MongoDB + ElasticCache + Hive with a single unified state layer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3A0"/>
                </a:solidFill>
              </a:rPr>
              <a:t>8 / 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1005840"/>
            <a:ext cx="3657600" cy="3931920"/>
          </a:xfrm>
          <a:prstGeom prst="rect">
            <a:avLst/>
          </a:prstGeom>
          <a:solidFill>
            <a:srgbClr val="100808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005840"/>
            <a:ext cx="3657600" cy="6400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0789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DE68A"/>
                </a:solidFill>
              </a:rPr>
              <a:t>Before — Three separate stores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417320"/>
            <a:ext cx="3474720" cy="1024128"/>
          </a:xfrm>
          <a:prstGeom prst="rect">
            <a:avLst/>
          </a:prstGeom>
          <a:solidFill>
            <a:srgbClr val="111E34"/>
          </a:solidFill>
          <a:ln w="12700">
            <a:solidFill>
              <a:srgbClr val="1E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417320"/>
            <a:ext cx="3474720" cy="45720"/>
          </a:xfrm>
          <a:prstGeom prst="rect">
            <a:avLst/>
          </a:prstGeom>
          <a:solidFill>
            <a:srgbClr val="6B83A0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4813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MongoDB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7373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3A0"/>
                </a:solidFill>
              </a:rPr>
              <a:t>Config + instate (24-48h)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19385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CA5A5"/>
                </a:solidFill>
              </a:rPr>
              <a:t>⚠ Separate driver, schema management, separate ops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0040" y="2532888"/>
            <a:ext cx="3474720" cy="1024128"/>
          </a:xfrm>
          <a:prstGeom prst="rect">
            <a:avLst/>
          </a:prstGeom>
          <a:solidFill>
            <a:srgbClr val="111E34"/>
          </a:solidFill>
          <a:ln w="12700">
            <a:solidFill>
              <a:srgbClr val="1E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532888"/>
            <a:ext cx="3474720" cy="457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5968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Elastic Cache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285292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45309"/>
                </a:solidFill>
              </a:rPr>
              <a:t>Hot data fallback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05409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CA5A5"/>
                </a:solidFill>
              </a:rPr>
              <a:t>⚠ Separate service, eviction policy to manage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3648456"/>
            <a:ext cx="3474720" cy="1024128"/>
          </a:xfrm>
          <a:prstGeom prst="rect">
            <a:avLst/>
          </a:prstGeom>
          <a:solidFill>
            <a:srgbClr val="111E34"/>
          </a:solidFill>
          <a:ln w="12700">
            <a:solidFill>
              <a:srgbClr val="1E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648456"/>
            <a:ext cx="3474720" cy="45720"/>
          </a:xfrm>
          <a:prstGeom prst="rect">
            <a:avLst/>
          </a:prstGeom>
          <a:solidFill>
            <a:srgbClr val="6B83A0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7124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Cloudera Hive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39684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3A0"/>
                </a:solidFill>
              </a:rPr>
              <a:t>Cold fallback (bulk recovery)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11480" y="416966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CA5A5"/>
                </a:solidFill>
              </a:rPr>
              <a:t>⚠ Slow reads, separate Hadoop cluster, YARN overhead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069080" y="2743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→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4663440" y="1005840"/>
            <a:ext cx="4251960" cy="3931920"/>
          </a:xfrm>
          <a:prstGeom prst="rect">
            <a:avLst/>
          </a:prstGeom>
          <a:solidFill>
            <a:srgbClr val="050D20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1005840"/>
            <a:ext cx="4251960" cy="64008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107899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DE9FE"/>
                </a:solidFill>
              </a:rPr>
              <a:t>After — Unified Databricks state layer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54880" y="141732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3A0"/>
                </a:solidFill>
              </a:rPr>
              <a:t>RocksDB state types inside transformWithState: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1719072"/>
            <a:ext cx="4069080" cy="548640"/>
          </a:xfrm>
          <a:prstGeom prst="rect">
            <a:avLst/>
          </a:prstGeom>
          <a:solidFill>
            <a:srgbClr val="111E34"/>
          </a:solidFill>
          <a:ln w="10160">
            <a:solidFill>
              <a:srgbClr val="9333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1719072"/>
            <a:ext cx="54864" cy="5486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32" name="Text 30"/>
          <p:cNvSpPr/>
          <p:nvPr/>
        </p:nvSpPr>
        <p:spPr>
          <a:xfrm>
            <a:off x="4882896" y="173736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ValueState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82896" y="19568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8F0"/>
                </a:solidFill>
              </a:rPr>
              <a:t>Trade status, last submission ts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772400" y="17373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333EA"/>
                </a:solidFill>
              </a:rPr>
              <a:t>TTL: 48hr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54880" y="2340864"/>
            <a:ext cx="4069080" cy="548640"/>
          </a:xfrm>
          <a:prstGeom prst="rect">
            <a:avLst/>
          </a:prstGeom>
          <a:solidFill>
            <a:srgbClr val="111E34"/>
          </a:solidFill>
          <a:ln w="10160">
            <a:solidFill>
              <a:srgbClr val="1A6E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2340864"/>
            <a:ext cx="54864" cy="548640"/>
          </a:xfrm>
          <a:prstGeom prst="rect">
            <a:avLst/>
          </a:prstGeom>
          <a:solidFill>
            <a:srgbClr val="1A6ED4"/>
          </a:solidFill>
          <a:ln/>
        </p:spPr>
      </p:sp>
      <p:sp>
        <p:nvSpPr>
          <p:cNvPr id="37" name="Text 35"/>
          <p:cNvSpPr/>
          <p:nvPr/>
        </p:nvSpPr>
        <p:spPr>
          <a:xfrm>
            <a:off x="4882896" y="23591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MapState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82896" y="25786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8F0"/>
                </a:solidFill>
              </a:rPr>
              <a:t>Counterparty exposure per instrument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772400" y="23591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A6ED4"/>
                </a:solidFill>
              </a:rPr>
              <a:t>TTL: 48hr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54880" y="2962656"/>
            <a:ext cx="4069080" cy="548640"/>
          </a:xfrm>
          <a:prstGeom prst="rect">
            <a:avLst/>
          </a:prstGeom>
          <a:solidFill>
            <a:srgbClr val="111E34"/>
          </a:solidFill>
          <a:ln w="10160">
            <a:solidFill>
              <a:srgbClr val="15A57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2962656"/>
            <a:ext cx="54864" cy="548640"/>
          </a:xfrm>
          <a:prstGeom prst="rect">
            <a:avLst/>
          </a:prstGeom>
          <a:solidFill>
            <a:srgbClr val="15A57A"/>
          </a:solidFill>
          <a:ln/>
        </p:spPr>
      </p:sp>
      <p:sp>
        <p:nvSpPr>
          <p:cNvPr id="42" name="Text 40"/>
          <p:cNvSpPr/>
          <p:nvPr/>
        </p:nvSpPr>
        <p:spPr>
          <a:xfrm>
            <a:off x="4882896" y="298094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ListState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82896" y="32004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8F0"/>
                </a:solidFill>
              </a:rPr>
              <a:t>Event sequence per trade_id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772400" y="29809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5A57A"/>
                </a:solidFill>
              </a:rPr>
              <a:t>TTL: 48hr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754880" y="3584448"/>
            <a:ext cx="4069080" cy="548640"/>
          </a:xfrm>
          <a:prstGeom prst="rect">
            <a:avLst/>
          </a:prstGeom>
          <a:solidFill>
            <a:srgbClr val="111E34"/>
          </a:solidFill>
          <a:ln w="10160">
            <a:solidFill>
              <a:srgbClr val="0E749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54880" y="3584448"/>
            <a:ext cx="54864" cy="54864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7" name="Text 45"/>
          <p:cNvSpPr/>
          <p:nvPr/>
        </p:nvSpPr>
        <p:spPr>
          <a:xfrm>
            <a:off x="4882896" y="360273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Broadcast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882896" y="38221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8F0"/>
                </a:solidFill>
              </a:rPr>
              <a:t>Regulator config from Lakebase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772400" y="36027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E7490"/>
                </a:solidFill>
              </a:rPr>
              <a:t>TTL: refresh on timer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754880" y="4297680"/>
            <a:ext cx="4069080" cy="512064"/>
          </a:xfrm>
          <a:prstGeom prst="rect">
            <a:avLst/>
          </a:prstGeom>
          <a:solidFill>
            <a:srgbClr val="001830"/>
          </a:solidFill>
          <a:ln w="10160">
            <a:solidFill>
              <a:srgbClr val="1A6ED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0" y="43159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E8FF"/>
                </a:solidFill>
              </a:rPr>
              <a:t>Restart recovery: checkpoint (S3/GCS) → Lakebase Postgres → Delta table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6E8FF"/>
                </a:solidFill>
              </a:rPr>
              <a:t>All state restored from durable store — no MongoDB fallback needed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Delta Lake — Batch Processing &amp; Persistence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3A0"/>
                </a:solidFill>
              </a:rPr>
              <a:t>Cluster C + D in parallel to RTM — zero impact on real-time latency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3A0"/>
                </a:solidFill>
              </a:rPr>
              <a:t>9 / 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1005840"/>
            <a:ext cx="4114800" cy="3931920"/>
          </a:xfrm>
          <a:prstGeom prst="rect">
            <a:avLst/>
          </a:prstGeom>
          <a:solidFill>
            <a:srgbClr val="111E34"/>
          </a:solidFill>
          <a:ln w="12700">
            <a:solidFill>
              <a:srgbClr val="1E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005840"/>
            <a:ext cx="4114800" cy="457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0789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Cluster C — SDP Persistence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" y="1371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3A0"/>
                </a:solidFill>
              </a:rPr>
              <a:t>Reads validated-trades + dead-letters · 30s trigger · separate consumer group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1719072"/>
            <a:ext cx="3931920" cy="347472"/>
          </a:xfrm>
          <a:prstGeom prst="rect">
            <a:avLst/>
          </a:prstGeom>
          <a:solidFill>
            <a:srgbClr val="0D1B2E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719072"/>
            <a:ext cx="54864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" y="173736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  gold.validated_trades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130552"/>
            <a:ext cx="3931920" cy="347472"/>
          </a:xfrm>
          <a:prstGeom prst="rect">
            <a:avLst/>
          </a:prstGeom>
          <a:solidFill>
            <a:srgbClr val="0D1B2E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130552"/>
            <a:ext cx="54864" cy="34747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" y="21488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  gold.dq_failures  (7yr retention)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542032"/>
            <a:ext cx="3931920" cy="347472"/>
          </a:xfrm>
          <a:prstGeom prst="rect">
            <a:avLst/>
          </a:prstGeom>
          <a:solidFill>
            <a:srgbClr val="0D1B2E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542032"/>
            <a:ext cx="54864" cy="34747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" y="256032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  gold.presubmit_failures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953512"/>
            <a:ext cx="3931920" cy="347472"/>
          </a:xfrm>
          <a:prstGeom prst="rect">
            <a:avLst/>
          </a:prstGeom>
          <a:solidFill>
            <a:srgbClr val="0D1B2E"/>
          </a:solidFill>
          <a:ln w="9525">
            <a:solidFill>
              <a:srgbClr val="15A5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953512"/>
            <a:ext cx="54864" cy="347472"/>
          </a:xfrm>
          <a:prstGeom prst="rect">
            <a:avLst/>
          </a:prstGeom>
          <a:solidFill>
            <a:srgbClr val="15A57A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" y="297180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  gold.regulator_acks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3364992"/>
            <a:ext cx="3931920" cy="347472"/>
          </a:xfrm>
          <a:prstGeom prst="rect">
            <a:avLst/>
          </a:prstGeom>
          <a:solidFill>
            <a:srgbClr val="0D1B2E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364992"/>
            <a:ext cx="54864" cy="3474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5" name="Text 23"/>
          <p:cNvSpPr/>
          <p:nvPr/>
        </p:nvSpPr>
        <p:spPr>
          <a:xfrm>
            <a:off x="438912" y="338328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  gold.mq_failures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3776472"/>
            <a:ext cx="3931920" cy="347472"/>
          </a:xfrm>
          <a:prstGeom prst="rect">
            <a:avLst/>
          </a:prstGeom>
          <a:solidFill>
            <a:srgbClr val="0D1B2E"/>
          </a:solidFill>
          <a:ln w="9525">
            <a:solidFill>
              <a:srgbClr val="9333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776472"/>
            <a:ext cx="54864" cy="347472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28" name="Text 26"/>
          <p:cNvSpPr/>
          <p:nvPr/>
        </p:nvSpPr>
        <p:spPr>
          <a:xfrm>
            <a:off x="438912" y="379476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  gold.metrics_stream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0040" y="442569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7490"/>
                </a:solidFill>
              </a:rPr>
              <a:t>Also: DynamoDB · Redis ElastiCache · Lakebase sync · Delta Sharing → GCP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0" y="1005840"/>
            <a:ext cx="4343400" cy="1828800"/>
          </a:xfrm>
          <a:prstGeom prst="rect">
            <a:avLst/>
          </a:prstGeom>
          <a:solidFill>
            <a:srgbClr val="111E34"/>
          </a:solidFill>
          <a:ln w="12700">
            <a:solidFill>
              <a:srgbClr val="1E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0" y="1005840"/>
            <a:ext cx="4343400" cy="45720"/>
          </a:xfrm>
          <a:prstGeom prst="rect">
            <a:avLst/>
          </a:prstGeom>
          <a:solidFill>
            <a:srgbClr val="15A57A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107899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Cluster D — Feedback Processing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663440" y="1389888"/>
            <a:ext cx="4160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8D8F0"/>
                </a:solidFill>
              </a:rPr>
              <a:t>Reads feedback-inbound Kafka topic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8D8F0"/>
                </a:solidFill>
              </a:rPr>
              <a:t>Dedup + enrich regulator acks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8D8F0"/>
                </a:solidFill>
              </a:rPr>
              <a:t>Writes state-updates → RTM Cluster A union()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8D8F0"/>
                </a:solidFill>
              </a:rPr>
              <a:t>Updates DynamoDB / Firestore status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C8D8F0"/>
                </a:solidFill>
              </a:rPr>
              <a:t>Writes gold.regulator_acks Delta table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0" y="2926080"/>
            <a:ext cx="4343400" cy="2011680"/>
          </a:xfrm>
          <a:prstGeom prst="rect">
            <a:avLst/>
          </a:prstGeom>
          <a:solidFill>
            <a:srgbClr val="111E34"/>
          </a:solidFill>
          <a:ln w="12700">
            <a:solidFill>
              <a:srgbClr val="1E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0" y="2926080"/>
            <a:ext cx="4343400" cy="457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6" name="Text 34"/>
          <p:cNvSpPr/>
          <p:nvPr/>
        </p:nvSpPr>
        <p:spPr>
          <a:xfrm>
            <a:off x="4663440" y="299923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Scheduled Batch Tiers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63440" y="3328416"/>
            <a:ext cx="4160520" cy="438912"/>
          </a:xfrm>
          <a:prstGeom prst="rect">
            <a:avLst/>
          </a:prstGeom>
          <a:solidFill>
            <a:srgbClr val="111E34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3328416"/>
            <a:ext cx="640080" cy="43891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9" name="Text 37"/>
          <p:cNvSpPr/>
          <p:nvPr/>
        </p:nvSpPr>
        <p:spPr>
          <a:xfrm>
            <a:off x="4663440" y="3328416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15min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58384" y="334670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0"/>
                </a:solidFill>
              </a:rPr>
              <a:t>Position aggregation by instrument · mid-day report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663440" y="3840480"/>
            <a:ext cx="4160520" cy="438912"/>
          </a:xfrm>
          <a:prstGeom prst="rect">
            <a:avLst/>
          </a:prstGeom>
          <a:solidFill>
            <a:srgbClr val="111E34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3840480"/>
            <a:ext cx="640080" cy="43891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3" name="Text 41"/>
          <p:cNvSpPr/>
          <p:nvPr/>
        </p:nvSpPr>
        <p:spPr>
          <a:xfrm>
            <a:off x="4663440" y="3840480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1hr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358384" y="385876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0"/>
                </a:solidFill>
              </a:rPr>
              <a:t>Reconciliation vs regulator acks · missed submission check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663440" y="4352544"/>
            <a:ext cx="4160520" cy="438912"/>
          </a:xfrm>
          <a:prstGeom prst="rect">
            <a:avLst/>
          </a:prstGeom>
          <a:solidFill>
            <a:srgbClr val="111E34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63440" y="4352544"/>
            <a:ext cx="640080" cy="43891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7" name="Text 45"/>
          <p:cNvSpPr/>
          <p:nvPr/>
        </p:nvSpPr>
        <p:spPr>
          <a:xfrm>
            <a:off x="4663440" y="4352544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 day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358384" y="437083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F0"/>
                </a:solidFill>
              </a:rPr>
              <a:t>End-of-day audit · compliance PDF · Lakebase SQL report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"/>
          </a:xfrm>
          <a:prstGeom prst="rect">
            <a:avLst/>
          </a:prstGeom>
          <a:solidFill>
            <a:srgbClr val="1A6ED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Latency Analysis — RTM vs RTM + Kafka + SDP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3A0"/>
                </a:solidFill>
              </a:rPr>
              <a:t>The 10ms Kafka hop is 0.1% of SLA budget — worth every millisecond for isolation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3A0"/>
                </a:solidFill>
              </a:rPr>
              <a:t>10 / 12</a:t>
            </a:r>
            <a:endParaRPr lang="en-US" sz="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96012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760720" y="1005840"/>
            <a:ext cx="3154680" cy="3749040"/>
          </a:xfrm>
          <a:prstGeom prst="rect">
            <a:avLst/>
          </a:prstGeom>
          <a:solidFill>
            <a:srgbClr val="111E34"/>
          </a:solidFill>
          <a:ln w="12700">
            <a:solidFill>
              <a:srgbClr val="1E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60720" y="1005840"/>
            <a:ext cx="315468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0" y="10789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Config Comparison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852160" y="138988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83A0"/>
                </a:solidFill>
              </a:rPr>
              <a:t>Config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949440" y="138988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83A0"/>
                </a:solidFill>
              </a:rPr>
              <a:t>p50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7589520" y="138988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83A0"/>
                </a:solidFill>
              </a:rPr>
              <a:t>p99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8229600" y="138988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83A0"/>
                </a:solidFill>
              </a:rPr>
              <a:t>Autoscale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852160" y="168249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8F0"/>
                </a:solidFill>
              </a:rPr>
              <a:t>All-in-RTM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949440" y="168249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8F0"/>
                </a:solidFill>
              </a:rPr>
              <a:t>12ms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543800" y="168249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8F0"/>
                </a:solidFill>
              </a:rPr>
              <a:t>32ms*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138160" y="168249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</a:rPr>
              <a:t>No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852160" y="1865376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83A0"/>
                </a:solidFill>
              </a:rPr>
              <a:t>Backpressure risk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5852160" y="21214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8F0"/>
                </a:solidFill>
              </a:rPr>
              <a:t>SDP forEachWriter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949440" y="212140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8F0"/>
                </a:solidFill>
              </a:rPr>
              <a:t>25ms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7543800" y="212140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8F0"/>
                </a:solidFill>
              </a:rPr>
              <a:t>46ms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8138160" y="21214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</a:rPr>
              <a:t>No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852160" y="2304288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83A0"/>
                </a:solidFill>
              </a:rPr>
              <a:t>No autoscale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5833872" y="2542032"/>
            <a:ext cx="3017520" cy="420624"/>
          </a:xfrm>
          <a:prstGeom prst="rect">
            <a:avLst/>
          </a:prstGeom>
          <a:solidFill>
            <a:srgbClr val="002A10"/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52160" y="25603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SDP 100ms ★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949440" y="256032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</a:rPr>
              <a:t>77ms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7543800" y="256032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</a:rPr>
              <a:t>130ms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8138160" y="2560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Yes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852160" y="2743200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6A34A"/>
                </a:solidFill>
              </a:rPr>
              <a:t>RECOMMENDED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5852160" y="29992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8F0"/>
                </a:solidFill>
              </a:rPr>
              <a:t>SDP 500ms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949440" y="299923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8F0"/>
                </a:solidFill>
              </a:rPr>
              <a:t>297ms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7543800" y="299923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8F0"/>
                </a:solidFill>
              </a:rPr>
              <a:t>540ms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8138160" y="29992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Yes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852160" y="3182112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83A0"/>
                </a:solidFill>
              </a:rPr>
              <a:t>Cost-efficient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5852160" y="343814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8F0"/>
                </a:solidFill>
              </a:rPr>
              <a:t>SDP 1s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6949440" y="343814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8F0"/>
                </a:solidFill>
              </a:rPr>
              <a:t>547ms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7543800" y="343814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8F0"/>
                </a:solidFill>
              </a:rPr>
              <a:t>1.07s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8138160" y="343814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Yes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852160" y="3621024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83A0"/>
                </a:solidFill>
              </a:rPr>
              <a:t>Max throughput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274320" y="4800600"/>
            <a:ext cx="864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3A0"/>
                </a:solidFill>
              </a:rPr>
              <a:t>* p99 assumes no HZ/MQ spikes. Real-world p99 for Path A often 200-500ms+ when external systems slow.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"/>
          </a:xfrm>
          <a:prstGeom prst="rect">
            <a:avLst/>
          </a:prstGeom>
          <a:solidFill>
            <a:srgbClr val="6B83A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Monitoring, Configuration &amp; Observability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3A0"/>
                </a:solidFill>
              </a:rPr>
              <a:t>StreamingQueryListener · CloudWatch · Prometheus · Grafana · PagerDuty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3A0"/>
                </a:solidFill>
              </a:rPr>
              <a:t>11 / 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1005840"/>
            <a:ext cx="4114800" cy="2286000"/>
          </a:xfrm>
          <a:prstGeom prst="rect">
            <a:avLst/>
          </a:prstGeom>
          <a:solidFill>
            <a:srgbClr val="111E34"/>
          </a:solidFill>
          <a:ln w="12700">
            <a:solidFill>
              <a:srgbClr val="1E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005840"/>
            <a:ext cx="4114800" cy="45720"/>
          </a:xfrm>
          <a:prstGeom prst="rect">
            <a:avLst/>
          </a:prstGeom>
          <a:solidFill>
            <a:srgbClr val="1A6ED4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0789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Configuration Management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389888"/>
            <a:ext cx="3931920" cy="585216"/>
          </a:xfrm>
          <a:prstGeom prst="rect">
            <a:avLst/>
          </a:prstGeom>
          <a:solidFill>
            <a:srgbClr val="0D1B2E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4081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YAML (DABs)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160934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8F0"/>
                </a:solidFill>
              </a:rPr>
              <a:t>Kafka brokers, S3 paths, cluster size, trigger interval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1480" y="177393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3A0"/>
                </a:solidFill>
              </a:rPr>
              <a:t>Deployment-time · version controlled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20040" y="2048256"/>
            <a:ext cx="3931920" cy="585216"/>
          </a:xfrm>
          <a:prstGeom prst="rect">
            <a:avLst/>
          </a:prstGeom>
          <a:solidFill>
            <a:srgbClr val="0D1B2E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0665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Lakebase (Postgres)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226771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8F0"/>
                </a:solidFill>
              </a:rPr>
              <a:t>Regulator formats, counterparty maps, instruments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243230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3A0"/>
                </a:solidFill>
              </a:rPr>
              <a:t>Runtime dynamic · no restart needed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20040" y="2706624"/>
            <a:ext cx="3931920" cy="585216"/>
          </a:xfrm>
          <a:prstGeom prst="rect">
            <a:avLst/>
          </a:prstGeom>
          <a:solidFill>
            <a:srgbClr val="0D1B2E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7249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Broadcast vars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29260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8F0"/>
                </a:solidFill>
              </a:rPr>
              <a:t>Lakebase config loaded at startup → executors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11480" y="309067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3A0"/>
                </a:solidFill>
              </a:rPr>
              <a:t>Refresh via handleExpiredTimer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28600" y="3429000"/>
            <a:ext cx="4114800" cy="1463040"/>
          </a:xfrm>
          <a:prstGeom prst="rect">
            <a:avLst/>
          </a:prstGeom>
          <a:solidFill>
            <a:srgbClr val="111E34"/>
          </a:solidFill>
          <a:ln w="12700">
            <a:solidFill>
              <a:srgbClr val="1E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3429000"/>
            <a:ext cx="4114800" cy="4572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35021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Key Alert Thresholds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0040" y="3822192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8D8F0"/>
                </a:solidFill>
              </a:rPr>
              <a:t>sourceQueuingLatencyMs P99 &gt; 200ms → capacity warning → cluster resize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8D8F0"/>
                </a:solidFill>
              </a:rPr>
              <a:t>SLA p99 &gt; 7s → P1 page (3s buffer before breach)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8D8F0"/>
                </a:solidFill>
              </a:rPr>
              <a:t>mq.retry_exhausted &gt; 0 → IBM MQ connectivity issue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8D8F0"/>
                </a:solidFill>
              </a:rPr>
              <a:t>presubmit.fail_rate &gt; 1% → data quality degradation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8D8F0"/>
                </a:solidFill>
              </a:rPr>
              <a:t>onQueryTerminated → immediate P1 page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0" y="1005840"/>
            <a:ext cx="4343400" cy="3886200"/>
          </a:xfrm>
          <a:prstGeom prst="rect">
            <a:avLst/>
          </a:prstGeom>
          <a:solidFill>
            <a:srgbClr val="111E34"/>
          </a:solidFill>
          <a:ln w="12700">
            <a:solidFill>
              <a:srgbClr val="1E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1005840"/>
            <a:ext cx="4343400" cy="4572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28" name="Text 26"/>
          <p:cNvSpPr/>
          <p:nvPr/>
        </p:nvSpPr>
        <p:spPr>
          <a:xfrm>
            <a:off x="4663440" y="107899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Monitoring Data Flow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1408176"/>
            <a:ext cx="4160520" cy="402336"/>
          </a:xfrm>
          <a:prstGeom prst="rect">
            <a:avLst/>
          </a:prstGeom>
          <a:solidFill>
            <a:srgbClr val="111E34"/>
          </a:solidFill>
          <a:ln w="9525">
            <a:solidFill>
              <a:srgbClr val="9333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36592" y="142646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3A0"/>
                </a:solidFill>
              </a:rPr>
              <a:t>All Clusters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36592" y="1591056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→ StreamingQueryListener (async)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63440" y="1883664"/>
            <a:ext cx="4160520" cy="402336"/>
          </a:xfrm>
          <a:prstGeom prst="rect">
            <a:avLst/>
          </a:prstGeom>
          <a:solidFill>
            <a:srgbClr val="111E34"/>
          </a:solidFill>
          <a:ln w="9525">
            <a:solidFill>
              <a:srgbClr val="5B21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36592" y="19019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3A0"/>
                </a:solidFill>
              </a:rPr>
              <a:t>Listener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36592" y="2066544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→ metrics-stream Kafka topic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63440" y="2359152"/>
            <a:ext cx="4160520" cy="402336"/>
          </a:xfrm>
          <a:prstGeom prst="rect">
            <a:avLst/>
          </a:prstGeom>
          <a:solidFill>
            <a:srgbClr val="111E34"/>
          </a:solidFill>
          <a:ln w="9525">
            <a:solidFill>
              <a:srgbClr val="1A6E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36592" y="23774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3A0"/>
                </a:solidFill>
              </a:rPr>
              <a:t>Kafka topic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36592" y="2542032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→ Prometheus scraper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63440" y="2834640"/>
            <a:ext cx="4160520" cy="402336"/>
          </a:xfrm>
          <a:prstGeom prst="rect">
            <a:avLst/>
          </a:prstGeom>
          <a:solidFill>
            <a:srgbClr val="111E34"/>
          </a:solidFill>
          <a:ln w="9525">
            <a:solidFill>
              <a:srgbClr val="15A57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36592" y="28529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3A0"/>
                </a:solidFill>
              </a:rPr>
              <a:t>Prometheus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736592" y="3017520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→ Grafana dashboards (SLA + DQ)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663440" y="3310128"/>
            <a:ext cx="4160520" cy="402336"/>
          </a:xfrm>
          <a:prstGeom prst="rect">
            <a:avLst/>
          </a:prstGeom>
          <a:solidFill>
            <a:srgbClr val="111E34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36592" y="33284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3A0"/>
                </a:solidFill>
              </a:rPr>
              <a:t>Prometheus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736592" y="349300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→ PagerDuty (SLA breach + cluster down)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663440" y="3785616"/>
            <a:ext cx="4160520" cy="402336"/>
          </a:xfrm>
          <a:prstGeom prst="rect">
            <a:avLst/>
          </a:prstGeom>
          <a:solidFill>
            <a:srgbClr val="111E34"/>
          </a:solidFill>
          <a:ln w="9525">
            <a:solidFill>
              <a:srgbClr val="0E749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36592" y="380390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3A0"/>
                </a:solidFill>
              </a:rPr>
              <a:t>Delta gold tables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736592" y="3968496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→ Databricks SQL compliance queries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663440" y="4261104"/>
            <a:ext cx="4160520" cy="402336"/>
          </a:xfrm>
          <a:prstGeom prst="rect">
            <a:avLst/>
          </a:prstGeom>
          <a:solidFill>
            <a:srgbClr val="111E34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36592" y="427939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3A0"/>
                </a:solidFill>
              </a:rPr>
              <a:t>Lakebase Postgres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736592" y="4443984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→ 7-year audit trail for regulator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6E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Architecture Decisions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3A0"/>
                </a:solidFill>
              </a:rPr>
              <a:t>Summary of critical choices made and why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4048" y="1097280"/>
            <a:ext cx="2743200" cy="1719072"/>
          </a:xfrm>
          <a:prstGeom prst="rect">
            <a:avLst/>
          </a:prstGeom>
          <a:solidFill>
            <a:srgbClr val="111E34"/>
          </a:solidFill>
          <a:ln w="12700">
            <a:solidFill>
              <a:srgbClr val="9333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097280"/>
            <a:ext cx="2743200" cy="64008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1887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Databricks RTM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49961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8F0"/>
                </a:solidFill>
              </a:rPr>
              <a:t>Replaces Spring Boot + PySpark + 3 Kafka topics with a single streaming pipeline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75488" y="2148840"/>
            <a:ext cx="2560320" cy="18288"/>
          </a:xfrm>
          <a:prstGeom prst="rect">
            <a:avLst/>
          </a:prstGeom>
          <a:solidFill>
            <a:srgbClr val="1E3A5C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2212848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333EA"/>
                </a:solidFill>
              </a:rPr>
              <a:t>✓  3–5ms processing vs ~500ms micro-batch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36976" y="1097280"/>
            <a:ext cx="2743200" cy="1719072"/>
          </a:xfrm>
          <a:prstGeom prst="rect">
            <a:avLst/>
          </a:prstGeom>
          <a:solidFill>
            <a:srgbClr val="111E34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36976" y="1097280"/>
            <a:ext cx="2743200" cy="640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3328416" y="11887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Hazelcast CPMap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28416" y="149961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8F0"/>
                </a:solidFill>
              </a:rPr>
              <a:t>putIfAbsent gives permanent atomic claim — FencedLock releases and forgets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328416" y="2148840"/>
            <a:ext cx="2560320" cy="18288"/>
          </a:xfrm>
          <a:prstGeom prst="rect">
            <a:avLst/>
          </a:prstGeom>
          <a:solidFill>
            <a:srgbClr val="1E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328416" y="2212848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7706"/>
                </a:solidFill>
              </a:rPr>
              <a:t>✓  CP Raft guaranteed FCFS, 48hr TTL, no orphaned claims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089904" y="1097280"/>
            <a:ext cx="2743200" cy="1719072"/>
          </a:xfrm>
          <a:prstGeom prst="rect">
            <a:avLst/>
          </a:prstGeom>
          <a:solidFill>
            <a:srgbClr val="111E34"/>
          </a:solidFill>
          <a:ln w="12700">
            <a:solidFill>
              <a:srgbClr val="1A6E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9904" y="1097280"/>
            <a:ext cx="2743200" cy="64008"/>
          </a:xfrm>
          <a:prstGeom prst="rect">
            <a:avLst/>
          </a:prstGeom>
          <a:solidFill>
            <a:srgbClr val="1A6ED4"/>
          </a:solidFill>
          <a:ln/>
        </p:spPr>
      </p:sp>
      <p:sp>
        <p:nvSpPr>
          <p:cNvPr id="19" name="Text 17"/>
          <p:cNvSpPr/>
          <p:nvPr/>
        </p:nvSpPr>
        <p:spPr>
          <a:xfrm>
            <a:off x="6181344" y="11887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 Separate Clusters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81344" y="149961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8F0"/>
                </a:solidFill>
              </a:rPr>
              <a:t>RTM must not block on HZ+MQ. Cluster B is isolated so MQ spikes never stall RTM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181344" y="2148840"/>
            <a:ext cx="2560320" cy="18288"/>
          </a:xfrm>
          <a:prstGeom prst="rect">
            <a:avLst/>
          </a:prstGeom>
          <a:solidFill>
            <a:srgbClr val="1E3A5C"/>
          </a:solidFill>
          <a:ln/>
        </p:spPr>
      </p:sp>
      <p:sp>
        <p:nvSpPr>
          <p:cNvPr id="22" name="Text 20"/>
          <p:cNvSpPr/>
          <p:nvPr/>
        </p:nvSpPr>
        <p:spPr>
          <a:xfrm>
            <a:off x="6181344" y="2212848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6ED4"/>
                </a:solidFill>
              </a:rPr>
              <a:t>✓  Autoscale on B/C/D · failure domains isolated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84048" y="2971800"/>
            <a:ext cx="2743200" cy="1719072"/>
          </a:xfrm>
          <a:prstGeom prst="rect">
            <a:avLst/>
          </a:prstGeom>
          <a:solidFill>
            <a:srgbClr val="111E34"/>
          </a:solidFill>
          <a:ln w="12700">
            <a:solidFill>
              <a:srgbClr val="5B21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4048" y="2971800"/>
            <a:ext cx="2743200" cy="64008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" y="30632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Kafka as intermediate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" y="337413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8F0"/>
                </a:solidFill>
              </a:rPr>
              <a:t>10ms hop enables separation of concerns. 0.1% of 10s SLA budget.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5488" y="4023360"/>
            <a:ext cx="2560320" cy="18288"/>
          </a:xfrm>
          <a:prstGeom prst="rect">
            <a:avLst/>
          </a:prstGeom>
          <a:solidFill>
            <a:srgbClr val="1E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" y="4087368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21B6"/>
                </a:solidFill>
              </a:rPr>
              <a:t>✓  RTM stays pure, SDP independently scalable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36976" y="2971800"/>
            <a:ext cx="2743200" cy="1719072"/>
          </a:xfrm>
          <a:prstGeom prst="rect">
            <a:avLst/>
          </a:prstGeom>
          <a:solidFill>
            <a:srgbClr val="111E34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36976" y="2971800"/>
            <a:ext cx="2743200" cy="6400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1" name="Text 29"/>
          <p:cNvSpPr/>
          <p:nvPr/>
        </p:nvSpPr>
        <p:spPr>
          <a:xfrm>
            <a:off x="3328416" y="30632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Delta + Lakebase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28416" y="337413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8F0"/>
                </a:solidFill>
              </a:rPr>
              <a:t>Replaces Cloudera Hive + MongoDB with one queryable, auditable, SQL-accessible store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328416" y="4023360"/>
            <a:ext cx="2560320" cy="18288"/>
          </a:xfrm>
          <a:prstGeom prst="rect">
            <a:avLst/>
          </a:prstGeom>
          <a:solidFill>
            <a:srgbClr val="1E3A5C"/>
          </a:solidFill>
          <a:ln/>
        </p:spPr>
      </p:sp>
      <p:sp>
        <p:nvSpPr>
          <p:cNvPr id="34" name="Text 32"/>
          <p:cNvSpPr/>
          <p:nvPr/>
        </p:nvSpPr>
        <p:spPr>
          <a:xfrm>
            <a:off x="3328416" y="4087368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7490"/>
                </a:solidFill>
              </a:rPr>
              <a:t>✓  7-year compliance trail · Databricks SQL dashboards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089904" y="2971800"/>
            <a:ext cx="2743200" cy="1719072"/>
          </a:xfrm>
          <a:prstGeom prst="rect">
            <a:avLst/>
          </a:prstGeom>
          <a:solidFill>
            <a:srgbClr val="111E34"/>
          </a:solidFill>
          <a:ln w="12700">
            <a:solidFill>
              <a:srgbClr val="15A57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89904" y="2971800"/>
            <a:ext cx="2743200" cy="64008"/>
          </a:xfrm>
          <a:prstGeom prst="rect">
            <a:avLst/>
          </a:prstGeom>
          <a:solidFill>
            <a:srgbClr val="15A57A"/>
          </a:solidFill>
          <a:ln/>
        </p:spPr>
      </p:sp>
      <p:sp>
        <p:nvSpPr>
          <p:cNvPr id="37" name="Text 35"/>
          <p:cNvSpPr/>
          <p:nvPr/>
        </p:nvSpPr>
        <p:spPr>
          <a:xfrm>
            <a:off x="6181344" y="30632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Solace routing (future)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81344" y="337413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8F0"/>
                </a:solidFill>
              </a:rPr>
              <a:t>Route EQ/FI to AWS, FX/DERIV to GCP — eliminates FCFS race entirely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181344" y="4023360"/>
            <a:ext cx="2560320" cy="18288"/>
          </a:xfrm>
          <a:prstGeom prst="rect">
            <a:avLst/>
          </a:prstGeom>
          <a:solidFill>
            <a:srgbClr val="1E3A5C"/>
          </a:solidFill>
          <a:ln/>
        </p:spPr>
      </p:sp>
      <p:sp>
        <p:nvSpPr>
          <p:cNvPr id="40" name="Text 38"/>
          <p:cNvSpPr/>
          <p:nvPr/>
        </p:nvSpPr>
        <p:spPr>
          <a:xfrm>
            <a:off x="6181344" y="4087368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5A57A"/>
                </a:solidFill>
              </a:rPr>
              <a:t>✓  Zero coordinator needed — simplest correct solution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412480" y="47548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3A0"/>
                </a:solidFill>
              </a:rPr>
              <a:t>12 / 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Trade Reporting Cloud Migration — Solution Approach</dc:title>
  <dc:subject>PptxGenJS Presentation</dc:subject>
  <dc:creator>PptxGenJS</dc:creator>
  <cp:lastModifiedBy>PptxGenJS</cp:lastModifiedBy>
  <cp:revision>1</cp:revision>
  <dcterms:created xsi:type="dcterms:W3CDTF">2026-04-20T01:00:43Z</dcterms:created>
  <dcterms:modified xsi:type="dcterms:W3CDTF">2026-04-20T01:00:43Z</dcterms:modified>
</cp:coreProperties>
</file>