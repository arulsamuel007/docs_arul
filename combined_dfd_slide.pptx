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842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080F24"/>
          </a:solidFill>
          <a:ln w="12700">
            <a:solidFill>
              <a:srgbClr val="1A28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347472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Text 2"/>
          <p:cNvSpPr/>
          <p:nvPr/>
        </p:nvSpPr>
        <p:spPr>
          <a:xfrm>
            <a:off x="237744" y="182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Trade Reporting — Cloud Data Flow (Single Cloud)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64008"/>
            <a:ext cx="493776" cy="201168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0" y="64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RTM Cluster A</a:t>
            </a:r>
            <a:endParaRPr lang="en-US" sz="550" dirty="0"/>
          </a:p>
        </p:txBody>
      </p:sp>
      <p:sp>
        <p:nvSpPr>
          <p:cNvPr id="7" name="Shape 5"/>
          <p:cNvSpPr/>
          <p:nvPr/>
        </p:nvSpPr>
        <p:spPr>
          <a:xfrm>
            <a:off x="8394192" y="64008"/>
            <a:ext cx="493776" cy="201168"/>
          </a:xfrm>
          <a:prstGeom prst="rect">
            <a:avLst/>
          </a:prstGeom>
          <a:solidFill>
            <a:srgbClr val="1A6E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94192" y="64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SDP Clusters B/C</a:t>
            </a:r>
            <a:endParaRPr lang="en-US" sz="550" dirty="0"/>
          </a:p>
        </p:txBody>
      </p:sp>
      <p:sp>
        <p:nvSpPr>
          <p:cNvPr id="9" name="Shape 7"/>
          <p:cNvSpPr/>
          <p:nvPr/>
        </p:nvSpPr>
        <p:spPr>
          <a:xfrm>
            <a:off x="8924544" y="64008"/>
            <a:ext cx="493776" cy="201168"/>
          </a:xfrm>
          <a:prstGeom prst="rect">
            <a:avLst/>
          </a:prstGeom>
          <a:solidFill>
            <a:srgbClr val="92400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24544" y="64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Batch Job 1</a:t>
            </a:r>
            <a:endParaRPr lang="en-US" sz="550" dirty="0"/>
          </a:p>
        </p:txBody>
      </p:sp>
      <p:sp>
        <p:nvSpPr>
          <p:cNvPr id="11" name="Shape 9"/>
          <p:cNvSpPr/>
          <p:nvPr/>
        </p:nvSpPr>
        <p:spPr>
          <a:xfrm>
            <a:off x="9454896" y="64008"/>
            <a:ext cx="493776" cy="201168"/>
          </a:xfrm>
          <a:prstGeom prst="rect">
            <a:avLst/>
          </a:prstGeom>
          <a:solidFill>
            <a:srgbClr val="1A6ED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54896" y="64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Batch Job 2</a:t>
            </a:r>
            <a:endParaRPr lang="en-US" sz="550" dirty="0"/>
          </a:p>
        </p:txBody>
      </p:sp>
      <p:sp>
        <p:nvSpPr>
          <p:cNvPr id="13" name="Shape 11"/>
          <p:cNvSpPr/>
          <p:nvPr/>
        </p:nvSpPr>
        <p:spPr>
          <a:xfrm>
            <a:off x="9985248" y="64008"/>
            <a:ext cx="493776" cy="201168"/>
          </a:xfrm>
          <a:prstGeom prst="rect">
            <a:avLst/>
          </a:prstGeom>
          <a:solidFill>
            <a:srgbClr val="15A5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85248" y="64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Batch Job 3</a:t>
            </a:r>
            <a:endParaRPr lang="en-US" sz="550" dirty="0"/>
          </a:p>
        </p:txBody>
      </p:sp>
      <p:sp>
        <p:nvSpPr>
          <p:cNvPr id="15" name="Shape 13"/>
          <p:cNvSpPr/>
          <p:nvPr/>
        </p:nvSpPr>
        <p:spPr>
          <a:xfrm>
            <a:off x="10515600" y="64008"/>
            <a:ext cx="493776" cy="201168"/>
          </a:xfrm>
          <a:prstGeom prst="rect">
            <a:avLst/>
          </a:prstGeom>
          <a:solidFill>
            <a:srgbClr val="7C5A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0" y="64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Kafka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11045952" y="64008"/>
            <a:ext cx="493776" cy="201168"/>
          </a:xfrm>
          <a:prstGeom prst="rect">
            <a:avLst/>
          </a:prstGeom>
          <a:solidFill>
            <a:srgbClr val="0E74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45952" y="64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Delta Δ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11576304" y="64008"/>
            <a:ext cx="493776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576304" y="64008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</a:rPr>
              <a:t>HZ/MQ/DDB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109728" y="384048"/>
            <a:ext cx="11942064" cy="3072384"/>
          </a:xfrm>
          <a:prstGeom prst="rect">
            <a:avLst/>
          </a:prstGeom>
          <a:solidFill>
            <a:srgbClr val="0A0618"/>
          </a:solidFill>
          <a:ln w="12700">
            <a:solidFill>
              <a:srgbClr val="9333E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9728" y="384048"/>
            <a:ext cx="11942064" cy="41148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" y="40233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9333EA"/>
                </a:solidFill>
              </a:rPr>
              <a:t>RTM PIPELINE — Real-Time Mode  ·  10s SLA  ·  Dedicated Compute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778240" y="4023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16A34A"/>
                </a:solidFill>
              </a:rPr>
              <a:t>~77ms p50 → IBM MQ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64592" y="694944"/>
            <a:ext cx="859536" cy="475488"/>
          </a:xfrm>
          <a:prstGeom prst="rect">
            <a:avLst/>
          </a:prstGeom>
          <a:solidFill>
            <a:srgbClr val="140828"/>
          </a:solidFill>
          <a:ln w="9525">
            <a:solidFill>
              <a:srgbClr val="C084F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4592" y="694944"/>
            <a:ext cx="859536" cy="50292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7" name="Text 25"/>
          <p:cNvSpPr/>
          <p:nvPr/>
        </p:nvSpPr>
        <p:spPr>
          <a:xfrm>
            <a:off x="182880" y="7498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84FC"/>
                </a:solidFill>
              </a:rPr>
              <a:t>Solace RIO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82880" y="92354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A3090"/>
                </a:solidFill>
              </a:rPr>
              <a:t>trade event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82880" y="105156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A3090"/>
                </a:solidFill>
              </a:rPr>
              <a:t>bus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164592" y="1261872"/>
            <a:ext cx="859536" cy="475488"/>
          </a:xfrm>
          <a:prstGeom prst="rect">
            <a:avLst/>
          </a:prstGeom>
          <a:solidFill>
            <a:srgbClr val="0D0A28"/>
          </a:solidFill>
          <a:ln w="9525">
            <a:solidFill>
              <a:srgbClr val="7C5AF5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64592" y="1261872"/>
            <a:ext cx="859536" cy="50292"/>
          </a:xfrm>
          <a:prstGeom prst="rect">
            <a:avLst/>
          </a:prstGeom>
          <a:solidFill>
            <a:srgbClr val="7C5AF5"/>
          </a:solidFill>
          <a:ln/>
        </p:spPr>
      </p:sp>
      <p:sp>
        <p:nvSpPr>
          <p:cNvPr id="32" name="Text 30"/>
          <p:cNvSpPr/>
          <p:nvPr/>
        </p:nvSpPr>
        <p:spPr>
          <a:xfrm>
            <a:off x="182880" y="13167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C5AF5"/>
                </a:solidFill>
              </a:rPr>
              <a:t>MSK Kafka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82880" y="149047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A2870"/>
                </a:solidFill>
              </a:rPr>
              <a:t>raw-trades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82880" y="161848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A2870"/>
                </a:solidFill>
              </a:rPr>
              <a:t>topic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594360" y="1170432"/>
            <a:ext cx="9144" cy="91440"/>
          </a:xfrm>
          <a:prstGeom prst="line">
            <a:avLst/>
          </a:prstGeom>
          <a:noFill/>
          <a:ln w="152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64592" y="1883664"/>
            <a:ext cx="859536" cy="475488"/>
          </a:xfrm>
          <a:prstGeom prst="rect">
            <a:avLst/>
          </a:prstGeom>
          <a:solidFill>
            <a:srgbClr val="031820"/>
          </a:solidFill>
          <a:ln w="1016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64592" y="1883664"/>
            <a:ext cx="859536" cy="5029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" y="19385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891B2"/>
                </a:solidFill>
              </a:rPr>
              <a:t>Feedback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82880" y="2112264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A3848"/>
                </a:solidFill>
              </a:rPr>
              <a:t>Kafka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82880" y="223113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A3848"/>
                </a:solidFill>
              </a:rPr>
              <a:t>(inbound)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82880" y="235915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0891B2"/>
                </a:solidFill>
              </a:rPr>
              <a:t>↑ from SDP2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 flipV="1">
            <a:off x="594360" y="1755648"/>
            <a:ext cx="9144" cy="128016"/>
          </a:xfrm>
          <a:prstGeom prst="line">
            <a:avLst/>
          </a:prstGeom>
          <a:noFill/>
          <a:ln w="1524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115568" y="676656"/>
            <a:ext cx="5833872" cy="2706624"/>
          </a:xfrm>
          <a:prstGeom prst="rect">
            <a:avLst/>
          </a:prstGeom>
          <a:solidFill>
            <a:srgbClr val="1E0840"/>
          </a:solidFill>
          <a:ln w="12700">
            <a:solidFill>
              <a:srgbClr val="9333E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170432" y="713232"/>
            <a:ext cx="1792224" cy="2615184"/>
          </a:xfrm>
          <a:prstGeom prst="rect">
            <a:avLst/>
          </a:prstGeom>
          <a:solidFill>
            <a:srgbClr val="1A0C00"/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88720" y="73152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300" dirty="0">
                <a:solidFill>
                  <a:srgbClr val="B45309"/>
                </a:solidFill>
              </a:rPr>
              <a:t>BRONZE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207008" y="914400"/>
            <a:ext cx="1700784" cy="402336"/>
          </a:xfrm>
          <a:prstGeom prst="rect">
            <a:avLst/>
          </a:prstGeom>
          <a:solidFill>
            <a:srgbClr val="100800"/>
          </a:solidFill>
          <a:ln w="7620">
            <a:solidFill>
              <a:srgbClr val="B4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225296" y="9509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724"/>
                </a:solidFill>
              </a:rPr>
              <a:t>union()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225296" y="1106424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4010"/>
                </a:solidFill>
              </a:rPr>
              <a:t>raw-trades + feedback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1207008" y="1389888"/>
            <a:ext cx="1700784" cy="475488"/>
          </a:xfrm>
          <a:prstGeom prst="rect">
            <a:avLst/>
          </a:prstGeom>
          <a:solidFill>
            <a:srgbClr val="100800"/>
          </a:solidFill>
          <a:ln w="7620">
            <a:solidFill>
              <a:srgbClr val="B4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225296" y="142646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DE80"/>
                </a:solidFill>
              </a:rPr>
              <a:t>filter()  DQ L1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1225296" y="1581912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4010"/>
                </a:solidFill>
              </a:rPr>
              <a:t>null · range · type · whitelist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1225296" y="1700784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4010"/>
                </a:solidFill>
              </a:rPr>
              <a:t>~0ms · stateless SQL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1207008" y="1938528"/>
            <a:ext cx="1700784" cy="329184"/>
          </a:xfrm>
          <a:prstGeom prst="rect">
            <a:avLst/>
          </a:prstGeom>
          <a:solidFill>
            <a:srgbClr val="0D0800"/>
          </a:solidFill>
          <a:ln w="7620">
            <a:solidFill>
              <a:srgbClr val="B4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225296" y="1975104"/>
            <a:ext cx="1664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BB724"/>
                </a:solidFill>
              </a:rPr>
              <a:t>evt_type router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1225296" y="2112264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4010"/>
                </a:solidFill>
              </a:rPr>
              <a:t>"trade" fwd · "state_update" → RocksDB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1207008" y="2340864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FAIL → dead-letter-dq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1078992" y="1499616"/>
            <a:ext cx="91440" cy="9144"/>
          </a:xfrm>
          <a:prstGeom prst="line">
            <a:avLst/>
          </a:prstGeom>
          <a:noFill/>
          <a:ln w="15240">
            <a:solidFill>
              <a:srgbClr val="7C5AF5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2999232" y="713232"/>
            <a:ext cx="1956816" cy="2615184"/>
          </a:xfrm>
          <a:prstGeom prst="rect">
            <a:avLst/>
          </a:prstGeom>
          <a:solidFill>
            <a:srgbClr val="0C1018"/>
          </a:solidFill>
          <a:ln w="10160">
            <a:solidFill>
              <a:srgbClr val="6474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17520" y="731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300" dirty="0">
                <a:solidFill>
                  <a:srgbClr val="64748B"/>
                </a:solidFill>
              </a:rPr>
              <a:t>SILVER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035808" y="914400"/>
            <a:ext cx="1901952" cy="2322576"/>
          </a:xfrm>
          <a:prstGeom prst="rect">
            <a:avLst/>
          </a:prstGeom>
          <a:solidFill>
            <a:srgbClr val="080E18"/>
          </a:solidFill>
          <a:ln w="7620">
            <a:solidFill>
              <a:srgbClr val="64748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3054096" y="950976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94A3B8"/>
                </a:solidFill>
              </a:rPr>
              <a:t>transformWithState  ·  RocksDB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072384" y="1170432"/>
            <a:ext cx="1828800" cy="585216"/>
          </a:xfrm>
          <a:prstGeom prst="rect">
            <a:avLst/>
          </a:prstGeom>
          <a:solidFill>
            <a:srgbClr val="0A1020"/>
          </a:solidFill>
          <a:ln w="6350">
            <a:solidFill>
              <a:srgbClr val="475569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3090672" y="1207008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</a:rPr>
              <a:t>Regularize fields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3090672" y="1389888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 · dates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3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instrument map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3072384" y="1828800"/>
            <a:ext cx="1828800" cy="585216"/>
          </a:xfrm>
          <a:prstGeom prst="rect">
            <a:avLst/>
          </a:prstGeom>
          <a:solidFill>
            <a:srgbClr val="0A1020"/>
          </a:solidFill>
          <a:ln w="6350">
            <a:solidFill>
              <a:srgbClr val="475569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3090672" y="186537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</a:rPr>
              <a:t>Transaction state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3090672" y="204825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 detect · seq check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3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DQ L2 stateful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3072384" y="2487168"/>
            <a:ext cx="1828800" cy="585216"/>
          </a:xfrm>
          <a:prstGeom prst="rect">
            <a:avLst/>
          </a:prstGeom>
          <a:solidFill>
            <a:srgbClr val="0A1020"/>
          </a:solidFill>
          <a:ln w="6350">
            <a:solidFill>
              <a:srgbClr val="475569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3090672" y="2523744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</a:rPr>
              <a:t>Reference state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3090672" y="2706624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cpty exposure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3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broadcast Lakebase cfg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3035808" y="283464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DE80"/>
                </a:solidFill>
              </a:rPr>
              <a:t>emit: {row, dq_flag, state_type}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3035808" y="295351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A4A6A"/>
                </a:solidFill>
              </a:rPr>
              <a:t>async checkpoint → S3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2962656" y="1554480"/>
            <a:ext cx="36576" cy="9144"/>
          </a:xfrm>
          <a:prstGeom prst="line">
            <a:avLst/>
          </a:prstGeom>
          <a:noFill/>
          <a:ln w="1524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4992624" y="713232"/>
            <a:ext cx="1901952" cy="2615184"/>
          </a:xfrm>
          <a:prstGeom prst="rect">
            <a:avLst/>
          </a:prstGeom>
          <a:solidFill>
            <a:srgbClr val="1A1000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10912" y="73152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300" dirty="0">
                <a:solidFill>
                  <a:srgbClr val="D97706"/>
                </a:solidFill>
              </a:rPr>
              <a:t>GOLD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5029200" y="914400"/>
            <a:ext cx="1792224" cy="621792"/>
          </a:xfrm>
          <a:prstGeom prst="rect">
            <a:avLst/>
          </a:prstGeom>
          <a:solidFill>
            <a:srgbClr val="100A00"/>
          </a:solidFill>
          <a:ln w="762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5047488" y="950976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</a:rPr>
              <a:t>Transformations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047488" y="111556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regulator format apply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047488" y="1243584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from Lakebase / YAML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5047488" y="137160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field enrichment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5029200" y="1609344"/>
            <a:ext cx="1792224" cy="585216"/>
          </a:xfrm>
          <a:prstGeom prst="rect">
            <a:avLst/>
          </a:prstGeom>
          <a:solidFill>
            <a:srgbClr val="100A00"/>
          </a:solidFill>
          <a:ln w="762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047488" y="1645920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</a:rPr>
              <a:t>Reference lookups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5047488" y="181051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LEI · instrument map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5047488" y="193852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RocksDB MapState</a:t>
            </a:r>
            <a:endParaRPr lang="en-US" sz="600" dirty="0"/>
          </a:p>
        </p:txBody>
      </p:sp>
      <p:sp>
        <p:nvSpPr>
          <p:cNvPr id="85" name="Text 83"/>
          <p:cNvSpPr/>
          <p:nvPr/>
        </p:nvSpPr>
        <p:spPr>
          <a:xfrm>
            <a:off x="5047488" y="2066544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broadcast vars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29200" y="2267712"/>
            <a:ext cx="1792224" cy="475488"/>
          </a:xfrm>
          <a:prstGeom prst="rect">
            <a:avLst/>
          </a:prstGeom>
          <a:solidFill>
            <a:srgbClr val="100A00"/>
          </a:solidFill>
          <a:ln w="762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5047488" y="230428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F24"/>
                </a:solidFill>
              </a:rPr>
              <a:t>forEachWriter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047488" y="246888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DE80"/>
                </a:solidFill>
              </a:rPr>
              <a:t>→ validated-trades Kafka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5047488" y="259689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3A5A20"/>
                </a:solidFill>
              </a:rPr>
              <a:t>~5ms emit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5029200" y="2834640"/>
            <a:ext cx="1792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FAIL → dead-letter-dq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4956048" y="1554480"/>
            <a:ext cx="36576" cy="914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92" name="Shape 90"/>
          <p:cNvSpPr/>
          <p:nvPr/>
        </p:nvSpPr>
        <p:spPr>
          <a:xfrm>
            <a:off x="7040880" y="1188720"/>
            <a:ext cx="1060704" cy="475488"/>
          </a:xfrm>
          <a:prstGeom prst="rect">
            <a:avLst/>
          </a:prstGeom>
          <a:solidFill>
            <a:srgbClr val="0D0A28"/>
          </a:solidFill>
          <a:ln w="9525">
            <a:solidFill>
              <a:srgbClr val="7C5AF5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3" name="Shape 91"/>
          <p:cNvSpPr/>
          <p:nvPr/>
        </p:nvSpPr>
        <p:spPr>
          <a:xfrm>
            <a:off x="7040880" y="1188720"/>
            <a:ext cx="1060704" cy="50292"/>
          </a:xfrm>
          <a:prstGeom prst="rect">
            <a:avLst/>
          </a:prstGeom>
          <a:solidFill>
            <a:srgbClr val="7C5AF5"/>
          </a:solidFill>
          <a:ln/>
        </p:spPr>
      </p:sp>
      <p:sp>
        <p:nvSpPr>
          <p:cNvPr id="94" name="Text 92"/>
          <p:cNvSpPr/>
          <p:nvPr/>
        </p:nvSpPr>
        <p:spPr>
          <a:xfrm>
            <a:off x="7059168" y="1243584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C5AF5"/>
                </a:solidFill>
              </a:rPr>
              <a:t>MSK Kafka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059168" y="1408176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A2870"/>
                </a:solidFill>
              </a:rPr>
              <a:t>validated-trades</a:t>
            </a:r>
            <a:endParaRPr lang="en-US" sz="650" dirty="0"/>
          </a:p>
        </p:txBody>
      </p:sp>
      <p:sp>
        <p:nvSpPr>
          <p:cNvPr id="96" name="Text 94"/>
          <p:cNvSpPr/>
          <p:nvPr/>
        </p:nvSpPr>
        <p:spPr>
          <a:xfrm>
            <a:off x="7059168" y="1536192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C5AF5"/>
                </a:solidFill>
              </a:rPr>
              <a:t>~10ms hop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6894576" y="1426464"/>
            <a:ext cx="146304" cy="9144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8193024" y="676656"/>
            <a:ext cx="3913632" cy="2706624"/>
          </a:xfrm>
          <a:prstGeom prst="rect">
            <a:avLst/>
          </a:prstGeom>
          <a:solidFill>
            <a:srgbClr val="030C18"/>
          </a:solidFill>
          <a:ln w="12700">
            <a:solidFill>
              <a:srgbClr val="1A6ED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8284464" y="694944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0A5FA"/>
                </a:solidFill>
              </a:rPr>
              <a:t>SDP CLUSTER B — Submission  (autoscale ON · 100ms trigger)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8247888" y="950976"/>
            <a:ext cx="3767328" cy="475488"/>
          </a:xfrm>
          <a:prstGeom prst="rect">
            <a:avLst/>
          </a:prstGeom>
          <a:solidFill>
            <a:srgbClr val="040C18"/>
          </a:solidFill>
          <a:ln w="8890">
            <a:solidFill>
              <a:srgbClr val="1A6ED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1" name="Text 99"/>
          <p:cNvSpPr/>
          <p:nvPr/>
        </p:nvSpPr>
        <p:spPr>
          <a:xfrm>
            <a:off x="8302752" y="9875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0A5FA"/>
                </a:solidFill>
              </a:rPr>
              <a:t>1 — Load configs from DynamoDB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8302752" y="11704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9A"/>
                </a:solidFill>
              </a:rPr>
              <a:t>format templates · counterparty maps · cached in broadcast vars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8247888" y="1499616"/>
            <a:ext cx="3767328" cy="475488"/>
          </a:xfrm>
          <a:prstGeom prst="rect">
            <a:avLst/>
          </a:prstGeom>
          <a:solidFill>
            <a:srgbClr val="040C18"/>
          </a:solidFill>
          <a:ln w="889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8302752" y="1536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DE80"/>
                </a:solidFill>
              </a:rPr>
              <a:t>2 — Pre-Submission Validation  DQ L3</a:t>
            </a:r>
            <a:endParaRPr lang="en-US" sz="700" dirty="0"/>
          </a:p>
        </p:txBody>
      </p:sp>
      <p:sp>
        <p:nvSpPr>
          <p:cNvPr id="105" name="Text 103"/>
          <p:cNvSpPr/>
          <p:nvPr/>
        </p:nvSpPr>
        <p:spPr>
          <a:xfrm>
            <a:off x="8302752" y="1719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9A"/>
                </a:solidFill>
              </a:rPr>
              <a:t>ITRS schema · UTI · LEI · payload size · run BEFORE claiming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10131552" y="1499616"/>
            <a:ext cx="9144" cy="9144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8247888" y="2048256"/>
            <a:ext cx="3767328" cy="475488"/>
          </a:xfrm>
          <a:prstGeom prst="rect">
            <a:avLst/>
          </a:prstGeom>
          <a:solidFill>
            <a:srgbClr val="040C18"/>
          </a:solidFill>
          <a:ln w="889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8302752" y="20848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BB724"/>
                </a:solidFill>
              </a:rPr>
              <a:t>3 — Hazelcast CPMap.putIfAbsent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8302752" y="22677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9A"/>
                </a:solidFill>
              </a:rPr>
              <a:t>None=WINNER post to MQ  ·  value=LOSER discard  ·  TTL 48h CP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10131552" y="2048256"/>
            <a:ext cx="9144" cy="9144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8247888" y="2596896"/>
            <a:ext cx="3767328" cy="475488"/>
          </a:xfrm>
          <a:prstGeom prst="rect">
            <a:avLst/>
          </a:prstGeom>
          <a:solidFill>
            <a:srgbClr val="040C18"/>
          </a:solidFill>
          <a:ln w="889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2" name="Text 110"/>
          <p:cNvSpPr/>
          <p:nvPr/>
        </p:nvSpPr>
        <p:spPr>
          <a:xfrm>
            <a:off x="8302752" y="26334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B923C"/>
                </a:solidFill>
              </a:rPr>
              <a:t>4 — Winner → IBM MQ + processed-Kafka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8302752" y="28163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9A"/>
                </a:solidFill>
              </a:rPr>
              <a:t>MQMD.CorrelId=trade_id · retry 3× · ~5ms · Regulator ←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10131552" y="2596896"/>
            <a:ext cx="9144" cy="9144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115" name="Shape 113"/>
          <p:cNvSpPr/>
          <p:nvPr/>
        </p:nvSpPr>
        <p:spPr>
          <a:xfrm>
            <a:off x="10131552" y="1426464"/>
            <a:ext cx="9144" cy="73152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116" name="Shape 114"/>
          <p:cNvSpPr/>
          <p:nvPr/>
        </p:nvSpPr>
        <p:spPr>
          <a:xfrm>
            <a:off x="10131552" y="1975104"/>
            <a:ext cx="9144" cy="73152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10131552" y="2523744"/>
            <a:ext cx="9144" cy="73152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118" name="Shape 116"/>
          <p:cNvSpPr/>
          <p:nvPr/>
        </p:nvSpPr>
        <p:spPr>
          <a:xfrm flipV="1">
            <a:off x="8101584" y="1097280"/>
            <a:ext cx="91440" cy="329184"/>
          </a:xfrm>
          <a:prstGeom prst="line">
            <a:avLst/>
          </a:prstGeom>
          <a:noFill/>
          <a:ln w="15240">
            <a:solidFill>
              <a:srgbClr val="7C5AF5"/>
            </a:solidFill>
            <a:prstDash val="solid"/>
            <a:headEnd type="none"/>
            <a:tailEnd type="triangle"/>
          </a:ln>
        </p:spPr>
      </p:sp>
      <p:sp>
        <p:nvSpPr>
          <p:cNvPr id="119" name="Shape 117"/>
          <p:cNvSpPr/>
          <p:nvPr/>
        </p:nvSpPr>
        <p:spPr>
          <a:xfrm>
            <a:off x="11448288" y="731520"/>
            <a:ext cx="585216" cy="329184"/>
          </a:xfrm>
          <a:prstGeom prst="rect">
            <a:avLst/>
          </a:prstGeom>
          <a:solidFill>
            <a:srgbClr val="1A0C00"/>
          </a:solidFill>
          <a:ln w="8890">
            <a:solidFill>
              <a:srgbClr val="EA6C1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0" name="Text 118"/>
          <p:cNvSpPr/>
          <p:nvPr/>
        </p:nvSpPr>
        <p:spPr>
          <a:xfrm>
            <a:off x="11466576" y="786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A6C1A"/>
                </a:solidFill>
              </a:rPr>
              <a:t>DynamoDB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11448288" y="1133856"/>
            <a:ext cx="585216" cy="329184"/>
          </a:xfrm>
          <a:prstGeom prst="rect">
            <a:avLst/>
          </a:prstGeom>
          <a:solidFill>
            <a:srgbClr val="1A1000"/>
          </a:solidFill>
          <a:ln w="889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2" name="Text 120"/>
          <p:cNvSpPr/>
          <p:nvPr/>
        </p:nvSpPr>
        <p:spPr>
          <a:xfrm>
            <a:off x="11466576" y="118872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</a:rPr>
              <a:t>Hazelcast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11466576" y="131673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D97706"/>
                </a:solidFill>
              </a:rPr>
              <a:t>Cloud CP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11448288" y="1536192"/>
            <a:ext cx="585216" cy="329184"/>
          </a:xfrm>
          <a:prstGeom prst="rect">
            <a:avLst/>
          </a:prstGeom>
          <a:solidFill>
            <a:srgbClr val="1E0800"/>
          </a:solidFill>
          <a:ln w="889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5" name="Text 123"/>
          <p:cNvSpPr/>
          <p:nvPr/>
        </p:nvSpPr>
        <p:spPr>
          <a:xfrm>
            <a:off x="11466576" y="1591056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2410C"/>
                </a:solidFill>
              </a:rPr>
              <a:t>IBM MQ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11466576" y="17190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2410C"/>
                </a:solidFill>
              </a:rPr>
              <a:t>→ Regulator</a:t>
            </a:r>
            <a:endParaRPr lang="en-US" sz="650" dirty="0"/>
          </a:p>
        </p:txBody>
      </p:sp>
      <p:sp>
        <p:nvSpPr>
          <p:cNvPr id="127" name="Shape 125"/>
          <p:cNvSpPr/>
          <p:nvPr/>
        </p:nvSpPr>
        <p:spPr>
          <a:xfrm>
            <a:off x="12015216" y="896112"/>
            <a:ext cx="9144" cy="9144"/>
          </a:xfrm>
          <a:prstGeom prst="line">
            <a:avLst/>
          </a:prstGeom>
          <a:noFill/>
          <a:ln w="15240">
            <a:solidFill>
              <a:srgbClr val="EA6C1A"/>
            </a:solidFill>
            <a:prstDash val="dash"/>
            <a:headEnd type="none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12015216" y="896112"/>
            <a:ext cx="914" cy="0"/>
          </a:xfrm>
          <a:prstGeom prst="line">
            <a:avLst/>
          </a:prstGeom>
          <a:noFill/>
          <a:ln w="10160">
            <a:solidFill>
              <a:srgbClr val="EA6C1A"/>
            </a:solidFill>
            <a:prstDash val="dash"/>
          </a:ln>
        </p:spPr>
      </p:sp>
      <p:sp>
        <p:nvSpPr>
          <p:cNvPr id="129" name="Text 127"/>
          <p:cNvSpPr/>
          <p:nvPr/>
        </p:nvSpPr>
        <p:spPr>
          <a:xfrm>
            <a:off x="11393424" y="80467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EA6C1A"/>
                </a:solidFill>
              </a:rPr>
              <a:t>←cfg</a:t>
            </a:r>
            <a:endParaRPr lang="en-US" sz="600" dirty="0"/>
          </a:p>
        </p:txBody>
      </p:sp>
      <p:sp>
        <p:nvSpPr>
          <p:cNvPr id="130" name="Text 128"/>
          <p:cNvSpPr/>
          <p:nvPr/>
        </p:nvSpPr>
        <p:spPr>
          <a:xfrm>
            <a:off x="11393424" y="128016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D97706"/>
                </a:solidFill>
              </a:rPr>
              <a:t>←lock</a:t>
            </a:r>
            <a:endParaRPr lang="en-US" sz="600" dirty="0"/>
          </a:p>
        </p:txBody>
      </p:sp>
      <p:sp>
        <p:nvSpPr>
          <p:cNvPr id="131" name="Text 129"/>
          <p:cNvSpPr/>
          <p:nvPr/>
        </p:nvSpPr>
        <p:spPr>
          <a:xfrm>
            <a:off x="11393424" y="166420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C2410C"/>
                </a:solidFill>
              </a:rPr>
              <a:t>←post</a:t>
            </a:r>
            <a:endParaRPr lang="en-US" sz="600" dirty="0"/>
          </a:p>
        </p:txBody>
      </p:sp>
      <p:sp>
        <p:nvSpPr>
          <p:cNvPr id="132" name="Shape 130"/>
          <p:cNvSpPr/>
          <p:nvPr/>
        </p:nvSpPr>
        <p:spPr>
          <a:xfrm>
            <a:off x="8193024" y="2231136"/>
            <a:ext cx="1060704" cy="438912"/>
          </a:xfrm>
          <a:prstGeom prst="rect">
            <a:avLst/>
          </a:prstGeom>
          <a:solidFill>
            <a:srgbClr val="0D0A28"/>
          </a:solidFill>
          <a:ln w="8890">
            <a:solidFill>
              <a:srgbClr val="7C5AF5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8211312" y="228600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C5AF5"/>
                </a:solidFill>
              </a:rPr>
              <a:t>processed-</a:t>
            </a:r>
            <a:endParaRPr lang="en-US" sz="650" dirty="0"/>
          </a:p>
        </p:txBody>
      </p:sp>
      <p:sp>
        <p:nvSpPr>
          <p:cNvPr id="134" name="Text 132"/>
          <p:cNvSpPr/>
          <p:nvPr/>
        </p:nvSpPr>
        <p:spPr>
          <a:xfrm>
            <a:off x="8211312" y="242316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C5AF5"/>
                </a:solidFill>
              </a:rPr>
              <a:t>trades Kafka</a:t>
            </a:r>
            <a:endParaRPr lang="en-US" sz="650" dirty="0"/>
          </a:p>
        </p:txBody>
      </p:sp>
      <p:sp>
        <p:nvSpPr>
          <p:cNvPr id="135" name="Shape 133"/>
          <p:cNvSpPr/>
          <p:nvPr/>
        </p:nvSpPr>
        <p:spPr>
          <a:xfrm>
            <a:off x="8193024" y="2761488"/>
            <a:ext cx="3913632" cy="347472"/>
          </a:xfrm>
          <a:prstGeom prst="rect">
            <a:avLst/>
          </a:prstGeom>
          <a:solidFill>
            <a:srgbClr val="020C10"/>
          </a:solidFill>
          <a:ln w="1016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6" name="Text 134"/>
          <p:cNvSpPr/>
          <p:nvPr/>
        </p:nvSpPr>
        <p:spPr>
          <a:xfrm>
            <a:off x="8247888" y="2816352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891B2"/>
                </a:solidFill>
              </a:rPr>
              <a:t>SDP CLUSTER C — Feedback: MQ ack → feedback-inbound Kafka → RTM union()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594360" y="2935224"/>
            <a:ext cx="7598664" cy="0"/>
          </a:xfrm>
          <a:prstGeom prst="line">
            <a:avLst/>
          </a:prstGeom>
          <a:noFill/>
          <a:ln w="8890">
            <a:solidFill>
              <a:srgbClr val="0891B2"/>
            </a:solidFill>
            <a:prstDash val="dash"/>
            <a:tailEnd type="triangle"/>
          </a:ln>
        </p:spPr>
      </p:sp>
      <p:sp>
        <p:nvSpPr>
          <p:cNvPr id="138" name="Shape 136"/>
          <p:cNvSpPr/>
          <p:nvPr/>
        </p:nvSpPr>
        <p:spPr>
          <a:xfrm>
            <a:off x="109728" y="3566160"/>
            <a:ext cx="11942064" cy="27432"/>
          </a:xfrm>
          <a:prstGeom prst="rect">
            <a:avLst/>
          </a:prstGeom>
          <a:solidFill>
            <a:srgbClr val="1A3060"/>
          </a:solidFill>
          <a:ln/>
        </p:spPr>
      </p:sp>
      <p:sp>
        <p:nvSpPr>
          <p:cNvPr id="139" name="Text 137"/>
          <p:cNvSpPr/>
          <p:nvPr/>
        </p:nvSpPr>
        <p:spPr>
          <a:xfrm>
            <a:off x="201168" y="35478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E7490"/>
                </a:solidFill>
              </a:rPr>
              <a:t>BATCH  PROCESSING  PIPELINE  —  Bronze → Silver → Gold Delta  ·  15min / 1hr / 1day scheduled tiers</a:t>
            </a:r>
            <a:endParaRPr lang="en-US" sz="750" dirty="0"/>
          </a:p>
        </p:txBody>
      </p:sp>
      <p:sp>
        <p:nvSpPr>
          <p:cNvPr id="140" name="Text 138"/>
          <p:cNvSpPr/>
          <p:nvPr/>
        </p:nvSpPr>
        <p:spPr>
          <a:xfrm>
            <a:off x="9601200" y="3547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A6A9A"/>
                </a:solidFill>
              </a:rPr>
              <a:t>Trigger: processingTime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109728" y="3602736"/>
            <a:ext cx="11942064" cy="3145536"/>
          </a:xfrm>
          <a:prstGeom prst="rect">
            <a:avLst/>
          </a:prstGeom>
          <a:solidFill>
            <a:srgbClr val="060A00"/>
          </a:solidFill>
          <a:ln w="12700">
            <a:solidFill>
              <a:srgbClr val="0E749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2" name="Shape 140"/>
          <p:cNvSpPr/>
          <p:nvPr/>
        </p:nvSpPr>
        <p:spPr>
          <a:xfrm>
            <a:off x="109728" y="3602736"/>
            <a:ext cx="11942064" cy="4114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64592" y="3657600"/>
            <a:ext cx="859536" cy="420624"/>
          </a:xfrm>
          <a:prstGeom prst="rect">
            <a:avLst/>
          </a:prstGeom>
          <a:solidFill>
            <a:srgbClr val="140828"/>
          </a:solidFill>
          <a:ln w="9525">
            <a:solidFill>
              <a:srgbClr val="C084F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182880" y="371246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084FC"/>
                </a:solidFill>
              </a:rPr>
              <a:t>Solace RIO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182880" y="38679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A3090"/>
                </a:solidFill>
              </a:rPr>
              <a:t>all messages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164592" y="4169664"/>
            <a:ext cx="859536" cy="420624"/>
          </a:xfrm>
          <a:prstGeom prst="rect">
            <a:avLst/>
          </a:prstGeom>
          <a:solidFill>
            <a:srgbClr val="0D0A28"/>
          </a:solidFill>
          <a:ln w="9525">
            <a:solidFill>
              <a:srgbClr val="7C5AF5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182880" y="4224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C5AF5"/>
                </a:solidFill>
              </a:rPr>
              <a:t>MSK Kafka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182880" y="437997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A2870"/>
                </a:solidFill>
              </a:rPr>
              <a:t>all-messages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594360" y="4078224"/>
            <a:ext cx="9144" cy="91440"/>
          </a:xfrm>
          <a:prstGeom prst="line">
            <a:avLst/>
          </a:prstGeom>
          <a:noFill/>
          <a:ln w="152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150" name="Shape 148"/>
          <p:cNvSpPr/>
          <p:nvPr/>
        </p:nvSpPr>
        <p:spPr>
          <a:xfrm>
            <a:off x="164592" y="4663440"/>
            <a:ext cx="859536" cy="566928"/>
          </a:xfrm>
          <a:prstGeom prst="rect">
            <a:avLst/>
          </a:prstGeom>
          <a:solidFill>
            <a:srgbClr val="0A0D18"/>
          </a:solidFill>
          <a:ln w="6350">
            <a:solidFill>
              <a:srgbClr val="2A346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182880" y="471830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BB724"/>
                </a:solidFill>
              </a:rPr>
              <a:t>Batch Tiers</a:t>
            </a:r>
            <a:endParaRPr lang="en-US" sz="700" dirty="0"/>
          </a:p>
        </p:txBody>
      </p:sp>
      <p:sp>
        <p:nvSpPr>
          <p:cNvPr id="152" name="Text 150"/>
          <p:cNvSpPr/>
          <p:nvPr/>
        </p:nvSpPr>
        <p:spPr>
          <a:xfrm>
            <a:off x="182880" y="4882896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6A9A"/>
                </a:solidFill>
              </a:rPr>
              <a:t>15-min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182880" y="5010912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6A9A"/>
                </a:solidFill>
              </a:rPr>
              <a:t>1-hour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182880" y="513892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6A9A"/>
                </a:solidFill>
              </a:rPr>
              <a:t>1-day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1115568" y="3639312"/>
            <a:ext cx="5340096" cy="3090672"/>
          </a:xfrm>
          <a:prstGeom prst="rect">
            <a:avLst/>
          </a:prstGeom>
          <a:solidFill>
            <a:srgbClr val="0A0800"/>
          </a:solidFill>
          <a:ln w="12700">
            <a:solidFill>
              <a:srgbClr val="92400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6" name="Text 154"/>
          <p:cNvSpPr/>
          <p:nvPr/>
        </p:nvSpPr>
        <p:spPr>
          <a:xfrm>
            <a:off x="1188720" y="36576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92400E"/>
                </a:solidFill>
              </a:rPr>
              <a:t>JOB 1 — Bronze → Silver → Gold Delta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1170432" y="3858768"/>
            <a:ext cx="1572768" cy="2798064"/>
          </a:xfrm>
          <a:prstGeom prst="rect">
            <a:avLst/>
          </a:prstGeom>
          <a:solidFill>
            <a:srgbClr val="180A00"/>
          </a:solidFill>
          <a:ln w="8890">
            <a:solidFill>
              <a:srgbClr val="92400E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1188720" y="387705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92400E"/>
                </a:solidFill>
              </a:rPr>
              <a:t>BRONZE Δ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1207008" y="4059936"/>
            <a:ext cx="1499616" cy="512064"/>
          </a:xfrm>
          <a:prstGeom prst="rect">
            <a:avLst/>
          </a:prstGeom>
          <a:solidFill>
            <a:srgbClr val="100800"/>
          </a:solidFill>
          <a:ln w="6350">
            <a:solidFill>
              <a:srgbClr val="92400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0" name="Text 158"/>
          <p:cNvSpPr/>
          <p:nvPr/>
        </p:nvSpPr>
        <p:spPr>
          <a:xfrm>
            <a:off x="1225296" y="40965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BB724"/>
                </a:solidFill>
              </a:rPr>
              <a:t>readStream Kafka</a:t>
            </a:r>
            <a:endParaRPr lang="en-US" sz="650" dirty="0"/>
          </a:p>
        </p:txBody>
      </p:sp>
      <p:sp>
        <p:nvSpPr>
          <p:cNvPr id="161" name="Text 159"/>
          <p:cNvSpPr/>
          <p:nvPr/>
        </p:nvSpPr>
        <p:spPr>
          <a:xfrm>
            <a:off x="1225296" y="424281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4010"/>
                </a:solidFill>
              </a:rPr>
              <a:t>all-messages topic</a:t>
            </a:r>
            <a:endParaRPr lang="en-US" sz="600" dirty="0"/>
          </a:p>
        </p:txBody>
      </p:sp>
      <p:sp>
        <p:nvSpPr>
          <p:cNvPr id="162" name="Text 160"/>
          <p:cNvSpPr/>
          <p:nvPr/>
        </p:nvSpPr>
        <p:spPr>
          <a:xfrm>
            <a:off x="1225296" y="437083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4010"/>
                </a:solidFill>
              </a:rPr>
              <a:t>write all records</a:t>
            </a:r>
            <a:endParaRPr lang="en-US" sz="600" dirty="0"/>
          </a:p>
        </p:txBody>
      </p:sp>
      <p:sp>
        <p:nvSpPr>
          <p:cNvPr id="163" name="Text 161"/>
          <p:cNvSpPr/>
          <p:nvPr/>
        </p:nvSpPr>
        <p:spPr>
          <a:xfrm>
            <a:off x="1225296" y="449884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4010"/>
                </a:solidFill>
              </a:rPr>
              <a:t>no filter at Bronze</a:t>
            </a:r>
            <a:endParaRPr lang="en-US" sz="600" dirty="0"/>
          </a:p>
        </p:txBody>
      </p:sp>
      <p:sp>
        <p:nvSpPr>
          <p:cNvPr id="164" name="Shape 162"/>
          <p:cNvSpPr/>
          <p:nvPr/>
        </p:nvSpPr>
        <p:spPr>
          <a:xfrm>
            <a:off x="1207008" y="4626864"/>
            <a:ext cx="1499616" cy="402336"/>
          </a:xfrm>
          <a:prstGeom prst="rect">
            <a:avLst/>
          </a:prstGeom>
          <a:solidFill>
            <a:srgbClr val="0D0800"/>
          </a:solidFill>
          <a:ln w="6350">
            <a:solidFill>
              <a:srgbClr val="92400E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1225296" y="4663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BB724"/>
                </a:solidFill>
              </a:rPr>
              <a:t>Δ bronze.all_messages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1225296" y="480974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4010"/>
                </a:solidFill>
              </a:rPr>
              <a:t>S3 · ACID · checkpoint</a:t>
            </a:r>
            <a:endParaRPr lang="en-US" sz="600" dirty="0"/>
          </a:p>
        </p:txBody>
      </p:sp>
      <p:sp>
        <p:nvSpPr>
          <p:cNvPr id="167" name="Text 165"/>
          <p:cNvSpPr/>
          <p:nvPr/>
        </p:nvSpPr>
        <p:spPr>
          <a:xfrm>
            <a:off x="1225296" y="493776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4010"/>
                </a:solidFill>
              </a:rPr>
              <a:t>full replay source</a:t>
            </a:r>
            <a:endParaRPr lang="en-US" sz="600" dirty="0"/>
          </a:p>
        </p:txBody>
      </p:sp>
      <p:sp>
        <p:nvSpPr>
          <p:cNvPr id="168" name="Text 166"/>
          <p:cNvSpPr/>
          <p:nvPr/>
        </p:nvSpPr>
        <p:spPr>
          <a:xfrm>
            <a:off x="1225296" y="5120640"/>
            <a:ext cx="14996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4010"/>
                </a:solidFill>
              </a:rPr>
              <a:t>partition: trade_date</a:t>
            </a:r>
            <a:endParaRPr lang="en-US" sz="600" dirty="0"/>
          </a:p>
        </p:txBody>
      </p:sp>
      <p:sp>
        <p:nvSpPr>
          <p:cNvPr id="169" name="Shape 167"/>
          <p:cNvSpPr/>
          <p:nvPr/>
        </p:nvSpPr>
        <p:spPr>
          <a:xfrm>
            <a:off x="1078992" y="4315968"/>
            <a:ext cx="91440" cy="9144"/>
          </a:xfrm>
          <a:prstGeom prst="line">
            <a:avLst/>
          </a:prstGeom>
          <a:noFill/>
          <a:ln w="15240">
            <a:solidFill>
              <a:srgbClr val="7C5AF5"/>
            </a:solidFill>
            <a:prstDash val="solid"/>
            <a:headEnd type="none"/>
            <a:tailEnd type="triangle"/>
          </a:ln>
        </p:spPr>
      </p:sp>
      <p:sp>
        <p:nvSpPr>
          <p:cNvPr id="170" name="Shape 168"/>
          <p:cNvSpPr/>
          <p:nvPr/>
        </p:nvSpPr>
        <p:spPr>
          <a:xfrm>
            <a:off x="2779776" y="3858768"/>
            <a:ext cx="1700784" cy="2798064"/>
          </a:xfrm>
          <a:prstGeom prst="rect">
            <a:avLst/>
          </a:prstGeom>
          <a:solidFill>
            <a:srgbClr val="0C1018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798064" y="387705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64748B"/>
                </a:solidFill>
              </a:rPr>
              <a:t>SILVER Δ</a:t>
            </a:r>
            <a:endParaRPr lang="en-US" sz="650" dirty="0"/>
          </a:p>
        </p:txBody>
      </p:sp>
      <p:sp>
        <p:nvSpPr>
          <p:cNvPr id="172" name="Shape 170"/>
          <p:cNvSpPr/>
          <p:nvPr/>
        </p:nvSpPr>
        <p:spPr>
          <a:xfrm>
            <a:off x="2816352" y="4059936"/>
            <a:ext cx="1627632" cy="512064"/>
          </a:xfrm>
          <a:prstGeom prst="rect">
            <a:avLst/>
          </a:prstGeom>
          <a:solidFill>
            <a:srgbClr val="080E18"/>
          </a:solidFill>
          <a:ln w="6350">
            <a:solidFill>
              <a:srgbClr val="64748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3" name="Text 171"/>
          <p:cNvSpPr/>
          <p:nvPr/>
        </p:nvSpPr>
        <p:spPr>
          <a:xfrm>
            <a:off x="2834640" y="4096512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</a:rPr>
              <a:t>Filter + Pre-validate</a:t>
            </a:r>
            <a:endParaRPr lang="en-US" sz="650" dirty="0"/>
          </a:p>
        </p:txBody>
      </p:sp>
      <p:sp>
        <p:nvSpPr>
          <p:cNvPr id="174" name="Text 172"/>
          <p:cNvSpPr/>
          <p:nvPr/>
        </p:nvSpPr>
        <p:spPr>
          <a:xfrm>
            <a:off x="2834640" y="424281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A3A5A"/>
                </a:solidFill>
              </a:rPr>
              <a:t>DQ L1: null/range/type</a:t>
            </a:r>
            <a:endParaRPr lang="en-US" sz="600" dirty="0"/>
          </a:p>
        </p:txBody>
      </p:sp>
      <p:sp>
        <p:nvSpPr>
          <p:cNvPr id="175" name="Text 173"/>
          <p:cNvSpPr/>
          <p:nvPr/>
        </p:nvSpPr>
        <p:spPr>
          <a:xfrm>
            <a:off x="2834640" y="437083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A3A5A"/>
                </a:solidFill>
              </a:rPr>
              <a:t>dedup · whitelist</a:t>
            </a:r>
            <a:endParaRPr lang="en-US" sz="600" dirty="0"/>
          </a:p>
        </p:txBody>
      </p:sp>
      <p:sp>
        <p:nvSpPr>
          <p:cNvPr id="176" name="Text 174"/>
          <p:cNvSpPr/>
          <p:nvPr/>
        </p:nvSpPr>
        <p:spPr>
          <a:xfrm>
            <a:off x="2834640" y="4498848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DC2626"/>
                </a:solidFill>
              </a:rPr>
              <a:t>FAIL→silver.dq_failures</a:t>
            </a:r>
            <a:endParaRPr lang="en-US" sz="600" dirty="0"/>
          </a:p>
        </p:txBody>
      </p:sp>
      <p:sp>
        <p:nvSpPr>
          <p:cNvPr id="177" name="Shape 175"/>
          <p:cNvSpPr/>
          <p:nvPr/>
        </p:nvSpPr>
        <p:spPr>
          <a:xfrm>
            <a:off x="2816352" y="4626864"/>
            <a:ext cx="1627632" cy="402336"/>
          </a:xfrm>
          <a:prstGeom prst="rect">
            <a:avLst/>
          </a:prstGeom>
          <a:solidFill>
            <a:srgbClr val="060E18"/>
          </a:solidFill>
          <a:ln w="6350">
            <a:solidFill>
              <a:srgbClr val="64748B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8" name="Text 176"/>
          <p:cNvSpPr/>
          <p:nvPr/>
        </p:nvSpPr>
        <p:spPr>
          <a:xfrm>
            <a:off x="2834640" y="4663440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94A3B8"/>
                </a:solidFill>
              </a:rPr>
              <a:t>Δ silver.filtered_trades</a:t>
            </a:r>
            <a:endParaRPr lang="en-US" sz="650" dirty="0"/>
          </a:p>
        </p:txBody>
      </p:sp>
      <p:sp>
        <p:nvSpPr>
          <p:cNvPr id="179" name="Text 177"/>
          <p:cNvSpPr/>
          <p:nvPr/>
        </p:nvSpPr>
        <p:spPr>
          <a:xfrm>
            <a:off x="2834640" y="4809744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A3A5A"/>
                </a:solidFill>
              </a:rPr>
              <a:t>PASS records only</a:t>
            </a:r>
            <a:endParaRPr lang="en-US" sz="600" dirty="0"/>
          </a:p>
        </p:txBody>
      </p:sp>
      <p:sp>
        <p:nvSpPr>
          <p:cNvPr id="180" name="Text 178"/>
          <p:cNvSpPr/>
          <p:nvPr/>
        </p:nvSpPr>
        <p:spPr>
          <a:xfrm>
            <a:off x="2834640" y="4937760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A3A5A"/>
                </a:solidFill>
              </a:rPr>
              <a:t>partition: date/instr</a:t>
            </a:r>
            <a:endParaRPr lang="en-US" sz="600" dirty="0"/>
          </a:p>
        </p:txBody>
      </p:sp>
      <p:sp>
        <p:nvSpPr>
          <p:cNvPr id="181" name="Text 179"/>
          <p:cNvSpPr/>
          <p:nvPr/>
        </p:nvSpPr>
        <p:spPr>
          <a:xfrm>
            <a:off x="2834640" y="5065776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A3A5A"/>
                </a:solidFill>
              </a:rPr>
              <a:t>Z-order: trade_id</a:t>
            </a:r>
            <a:endParaRPr lang="en-US" sz="600" dirty="0"/>
          </a:p>
        </p:txBody>
      </p:sp>
      <p:sp>
        <p:nvSpPr>
          <p:cNvPr id="182" name="Text 180"/>
          <p:cNvSpPr/>
          <p:nvPr/>
        </p:nvSpPr>
        <p:spPr>
          <a:xfrm>
            <a:off x="2834640" y="519379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A3A5A"/>
                </a:solidFill>
              </a:rPr>
              <a:t>7yr on dq_failures</a:t>
            </a:r>
            <a:endParaRPr lang="en-US" sz="600" dirty="0"/>
          </a:p>
        </p:txBody>
      </p:sp>
      <p:sp>
        <p:nvSpPr>
          <p:cNvPr id="183" name="Shape 181"/>
          <p:cNvSpPr/>
          <p:nvPr/>
        </p:nvSpPr>
        <p:spPr>
          <a:xfrm>
            <a:off x="2743200" y="4315968"/>
            <a:ext cx="36576" cy="9144"/>
          </a:xfrm>
          <a:prstGeom prst="line">
            <a:avLst/>
          </a:prstGeom>
          <a:noFill/>
          <a:ln w="15240">
            <a:solidFill>
              <a:srgbClr val="92400E"/>
            </a:solidFill>
            <a:prstDash val="solid"/>
            <a:headEnd type="none"/>
            <a:tailEnd type="triangle"/>
          </a:ln>
        </p:spPr>
      </p:sp>
      <p:sp>
        <p:nvSpPr>
          <p:cNvPr id="184" name="Shape 182"/>
          <p:cNvSpPr/>
          <p:nvPr/>
        </p:nvSpPr>
        <p:spPr>
          <a:xfrm>
            <a:off x="4517136" y="3858768"/>
            <a:ext cx="1828800" cy="2798064"/>
          </a:xfrm>
          <a:prstGeom prst="rect">
            <a:avLst/>
          </a:prstGeom>
          <a:solidFill>
            <a:srgbClr val="1A1000"/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4535424" y="3877056"/>
            <a:ext cx="1792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200" dirty="0">
                <a:solidFill>
                  <a:srgbClr val="D97706"/>
                </a:solidFill>
              </a:rPr>
              <a:t>GOLD Δ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4553712" y="4059936"/>
            <a:ext cx="1755648" cy="475488"/>
          </a:xfrm>
          <a:prstGeom prst="rect">
            <a:avLst/>
          </a:prstGeom>
          <a:solidFill>
            <a:srgbClr val="100A00"/>
          </a:solidFill>
          <a:ln w="63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7" name="Text 185"/>
          <p:cNvSpPr/>
          <p:nvPr/>
        </p:nvSpPr>
        <p:spPr>
          <a:xfrm>
            <a:off x="4572000" y="4096512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BBF24"/>
                </a:solidFill>
              </a:rPr>
              <a:t>Transformations</a:t>
            </a:r>
            <a:endParaRPr lang="en-US" sz="650" dirty="0"/>
          </a:p>
        </p:txBody>
      </p:sp>
      <p:sp>
        <p:nvSpPr>
          <p:cNvPr id="188" name="Text 186"/>
          <p:cNvSpPr/>
          <p:nvPr/>
        </p:nvSpPr>
        <p:spPr>
          <a:xfrm>
            <a:off x="4572000" y="4242816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regulator format apply</a:t>
            </a:r>
            <a:endParaRPr lang="en-US" sz="600" dirty="0"/>
          </a:p>
        </p:txBody>
      </p:sp>
      <p:sp>
        <p:nvSpPr>
          <p:cNvPr id="189" name="Text 187"/>
          <p:cNvSpPr/>
          <p:nvPr/>
        </p:nvSpPr>
        <p:spPr>
          <a:xfrm>
            <a:off x="4572000" y="4370832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from DynamoDB config</a:t>
            </a:r>
            <a:endParaRPr lang="en-US" sz="600" dirty="0"/>
          </a:p>
        </p:txBody>
      </p:sp>
      <p:sp>
        <p:nvSpPr>
          <p:cNvPr id="190" name="Shape 188"/>
          <p:cNvSpPr/>
          <p:nvPr/>
        </p:nvSpPr>
        <p:spPr>
          <a:xfrm>
            <a:off x="4553712" y="4590288"/>
            <a:ext cx="1755648" cy="475488"/>
          </a:xfrm>
          <a:prstGeom prst="rect">
            <a:avLst/>
          </a:prstGeom>
          <a:solidFill>
            <a:srgbClr val="100A00"/>
          </a:solidFill>
          <a:ln w="63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1" name="Text 189"/>
          <p:cNvSpPr/>
          <p:nvPr/>
        </p:nvSpPr>
        <p:spPr>
          <a:xfrm>
            <a:off x="4572000" y="4626864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BBF24"/>
                </a:solidFill>
              </a:rPr>
              <a:t>Lookups (stream-static)</a:t>
            </a:r>
            <a:endParaRPr lang="en-US" sz="650" dirty="0"/>
          </a:p>
        </p:txBody>
      </p:sp>
      <p:sp>
        <p:nvSpPr>
          <p:cNvPr id="192" name="Text 190"/>
          <p:cNvSpPr/>
          <p:nvPr/>
        </p:nvSpPr>
        <p:spPr>
          <a:xfrm>
            <a:off x="4572000" y="4773168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LEI · instrument class</a:t>
            </a:r>
            <a:endParaRPr lang="en-US" sz="600" dirty="0"/>
          </a:p>
        </p:txBody>
      </p:sp>
      <p:sp>
        <p:nvSpPr>
          <p:cNvPr id="193" name="Text 191"/>
          <p:cNvSpPr/>
          <p:nvPr/>
        </p:nvSpPr>
        <p:spPr>
          <a:xfrm>
            <a:off x="4572000" y="4901184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broadcast Lakebase vars</a:t>
            </a:r>
            <a:endParaRPr lang="en-US" sz="600" dirty="0"/>
          </a:p>
        </p:txBody>
      </p:sp>
      <p:sp>
        <p:nvSpPr>
          <p:cNvPr id="194" name="Shape 192"/>
          <p:cNvSpPr/>
          <p:nvPr/>
        </p:nvSpPr>
        <p:spPr>
          <a:xfrm>
            <a:off x="4553712" y="5120640"/>
            <a:ext cx="1755648" cy="402336"/>
          </a:xfrm>
          <a:prstGeom prst="rect">
            <a:avLst/>
          </a:prstGeom>
          <a:solidFill>
            <a:srgbClr val="0D0800"/>
          </a:solidFill>
          <a:ln w="635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4572000" y="5157216"/>
            <a:ext cx="17190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BBF24"/>
                </a:solidFill>
              </a:rPr>
              <a:t>Δ gold.final_dataset</a:t>
            </a:r>
            <a:endParaRPr lang="en-US" sz="650" dirty="0"/>
          </a:p>
        </p:txBody>
      </p:sp>
      <p:sp>
        <p:nvSpPr>
          <p:cNvPr id="196" name="Text 194"/>
          <p:cNvSpPr/>
          <p:nvPr/>
        </p:nvSpPr>
        <p:spPr>
          <a:xfrm>
            <a:off x="4572000" y="5303520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4ADE80"/>
                </a:solidFill>
              </a:rPr>
              <a:t>enriched · regulator-ready</a:t>
            </a:r>
            <a:endParaRPr lang="en-US" sz="600" dirty="0"/>
          </a:p>
        </p:txBody>
      </p:sp>
      <p:sp>
        <p:nvSpPr>
          <p:cNvPr id="197" name="Text 195"/>
          <p:cNvSpPr/>
          <p:nvPr/>
        </p:nvSpPr>
        <p:spPr>
          <a:xfrm>
            <a:off x="4572000" y="5431536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Lakebase Postgres sync</a:t>
            </a:r>
            <a:endParaRPr lang="en-US" sz="600" dirty="0"/>
          </a:p>
        </p:txBody>
      </p:sp>
      <p:sp>
        <p:nvSpPr>
          <p:cNvPr id="198" name="Text 196"/>
          <p:cNvSpPr/>
          <p:nvPr/>
        </p:nvSpPr>
        <p:spPr>
          <a:xfrm>
            <a:off x="4572000" y="5559552"/>
            <a:ext cx="1719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7A5010"/>
                </a:solidFill>
              </a:rPr>
              <a:t>DynamoDB hot KV</a:t>
            </a:r>
            <a:endParaRPr lang="en-US" sz="600" dirty="0"/>
          </a:p>
        </p:txBody>
      </p:sp>
      <p:sp>
        <p:nvSpPr>
          <p:cNvPr id="199" name="Shape 197"/>
          <p:cNvSpPr/>
          <p:nvPr/>
        </p:nvSpPr>
        <p:spPr>
          <a:xfrm>
            <a:off x="4480560" y="4315968"/>
            <a:ext cx="36576" cy="914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0" name="Shape 198"/>
          <p:cNvSpPr/>
          <p:nvPr/>
        </p:nvSpPr>
        <p:spPr>
          <a:xfrm>
            <a:off x="6547104" y="3639312"/>
            <a:ext cx="2999232" cy="3090672"/>
          </a:xfrm>
          <a:prstGeom prst="rect">
            <a:avLst/>
          </a:prstGeom>
          <a:solidFill>
            <a:srgbClr val="030C18"/>
          </a:solidFill>
          <a:ln w="12700">
            <a:solidFill>
              <a:srgbClr val="1A6ED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620256" y="3657600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0A5FA"/>
                </a:solidFill>
              </a:rPr>
              <a:t>JOB 2 — Pre-Submission + Delivery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6345936" y="4663440"/>
            <a:ext cx="201168" cy="9144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203" name="Text 201"/>
          <p:cNvSpPr/>
          <p:nvPr/>
        </p:nvSpPr>
        <p:spPr>
          <a:xfrm>
            <a:off x="6035040" y="45537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D97706"/>
                </a:solidFill>
              </a:rPr>
              <a:t>gold.final_dataset</a:t>
            </a:r>
            <a:endParaRPr lang="en-US" sz="650" dirty="0"/>
          </a:p>
        </p:txBody>
      </p:sp>
      <p:sp>
        <p:nvSpPr>
          <p:cNvPr id="204" name="Shape 202"/>
          <p:cNvSpPr/>
          <p:nvPr/>
        </p:nvSpPr>
        <p:spPr>
          <a:xfrm>
            <a:off x="6601968" y="3895344"/>
            <a:ext cx="2852928" cy="566928"/>
          </a:xfrm>
          <a:prstGeom prst="rect">
            <a:avLst/>
          </a:prstGeom>
          <a:solidFill>
            <a:srgbClr val="040C18"/>
          </a:solidFill>
          <a:ln w="7620">
            <a:solidFill>
              <a:srgbClr val="1A6ED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5" name="Text 203"/>
          <p:cNvSpPr/>
          <p:nvPr/>
        </p:nvSpPr>
        <p:spPr>
          <a:xfrm>
            <a:off x="6656832" y="39319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0A5FA"/>
                </a:solidFill>
              </a:rPr>
              <a:t>1 — Fetch configs DynamoDB</a:t>
            </a:r>
            <a:endParaRPr lang="en-US" sz="700" dirty="0"/>
          </a:p>
        </p:txBody>
      </p:sp>
      <p:sp>
        <p:nvSpPr>
          <p:cNvPr id="206" name="Text 204"/>
          <p:cNvSpPr/>
          <p:nvPr/>
        </p:nvSpPr>
        <p:spPr>
          <a:xfrm>
            <a:off x="6656832" y="41148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9A"/>
                </a:solidFill>
              </a:rPr>
              <a:t>format templates · rules · SFTP creds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6601968" y="4553712"/>
            <a:ext cx="2852928" cy="566928"/>
          </a:xfrm>
          <a:prstGeom prst="rect">
            <a:avLst/>
          </a:prstGeom>
          <a:solidFill>
            <a:srgbClr val="040C18"/>
          </a:solidFill>
          <a:ln w="7620">
            <a:solidFill>
              <a:srgbClr val="16A34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8" name="Text 206"/>
          <p:cNvSpPr/>
          <p:nvPr/>
        </p:nvSpPr>
        <p:spPr>
          <a:xfrm>
            <a:off x="6656832" y="45902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4ADE80"/>
                </a:solidFill>
              </a:rPr>
              <a:t>2 — Pre-submission validation</a:t>
            </a:r>
            <a:endParaRPr lang="en-US" sz="700" dirty="0"/>
          </a:p>
        </p:txBody>
      </p:sp>
      <p:sp>
        <p:nvSpPr>
          <p:cNvPr id="209" name="Text 207"/>
          <p:cNvSpPr/>
          <p:nvPr/>
        </p:nvSpPr>
        <p:spPr>
          <a:xfrm>
            <a:off x="6656832" y="47731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9A"/>
                </a:solidFill>
              </a:rPr>
              <a:t>ITRS schema · UTI · LEI · window check</a:t>
            </a:r>
            <a:endParaRPr lang="en-US" sz="650" dirty="0"/>
          </a:p>
        </p:txBody>
      </p:sp>
      <p:sp>
        <p:nvSpPr>
          <p:cNvPr id="210" name="Shape 208"/>
          <p:cNvSpPr/>
          <p:nvPr/>
        </p:nvSpPr>
        <p:spPr>
          <a:xfrm>
            <a:off x="7114032" y="4553712"/>
            <a:ext cx="9144" cy="9144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6601968" y="5212080"/>
            <a:ext cx="2852928" cy="566928"/>
          </a:xfrm>
          <a:prstGeom prst="rect">
            <a:avLst/>
          </a:prstGeom>
          <a:solidFill>
            <a:srgbClr val="040C18"/>
          </a:solidFill>
          <a:ln w="7620">
            <a:solidFill>
              <a:srgbClr val="C2410C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2" name="Text 210"/>
          <p:cNvSpPr/>
          <p:nvPr/>
        </p:nvSpPr>
        <p:spPr>
          <a:xfrm>
            <a:off x="6656832" y="52486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B923C"/>
                </a:solidFill>
              </a:rPr>
              <a:t>3 — Multi-format delivery</a:t>
            </a:r>
            <a:endParaRPr lang="en-US" sz="700" dirty="0"/>
          </a:p>
        </p:txBody>
      </p:sp>
      <p:sp>
        <p:nvSpPr>
          <p:cNvPr id="213" name="Text 211"/>
          <p:cNvSpPr/>
          <p:nvPr/>
        </p:nvSpPr>
        <p:spPr>
          <a:xfrm>
            <a:off x="6656832" y="5431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9A"/>
                </a:solidFill>
              </a:rPr>
              <a:t>SFTP · IBM MQ · XML · Excel → Regulator</a:t>
            </a:r>
            <a:endParaRPr lang="en-US" sz="650" dirty="0"/>
          </a:p>
        </p:txBody>
      </p:sp>
      <p:sp>
        <p:nvSpPr>
          <p:cNvPr id="214" name="Shape 212"/>
          <p:cNvSpPr/>
          <p:nvPr/>
        </p:nvSpPr>
        <p:spPr>
          <a:xfrm>
            <a:off x="7114032" y="5212080"/>
            <a:ext cx="9144" cy="9144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215" name="Shape 213"/>
          <p:cNvSpPr/>
          <p:nvPr/>
        </p:nvSpPr>
        <p:spPr>
          <a:xfrm>
            <a:off x="6601968" y="5870448"/>
            <a:ext cx="2852928" cy="566928"/>
          </a:xfrm>
          <a:prstGeom prst="rect">
            <a:avLst/>
          </a:prstGeom>
          <a:solidFill>
            <a:srgbClr val="040C18"/>
          </a:solidFill>
          <a:ln w="7620">
            <a:solidFill>
              <a:srgbClr val="1A6ED4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6" name="Text 214"/>
          <p:cNvSpPr/>
          <p:nvPr/>
        </p:nvSpPr>
        <p:spPr>
          <a:xfrm>
            <a:off x="6656832" y="59070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60A5FA"/>
                </a:solidFill>
              </a:rPr>
              <a:t>4 — Write audit record</a:t>
            </a:r>
            <a:endParaRPr lang="en-US" sz="700" dirty="0"/>
          </a:p>
        </p:txBody>
      </p:sp>
      <p:sp>
        <p:nvSpPr>
          <p:cNvPr id="217" name="Text 215"/>
          <p:cNvSpPr/>
          <p:nvPr/>
        </p:nvSpPr>
        <p:spPr>
          <a:xfrm>
            <a:off x="6656832" y="60899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A6A9A"/>
                </a:solidFill>
              </a:rPr>
              <a:t>gold.submissions_audit · DynamoDB status=PENDING</a:t>
            </a:r>
            <a:endParaRPr lang="en-US" sz="650" dirty="0"/>
          </a:p>
        </p:txBody>
      </p:sp>
      <p:sp>
        <p:nvSpPr>
          <p:cNvPr id="218" name="Shape 216"/>
          <p:cNvSpPr/>
          <p:nvPr/>
        </p:nvSpPr>
        <p:spPr>
          <a:xfrm>
            <a:off x="7114032" y="5870448"/>
            <a:ext cx="9144" cy="9144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219" name="Shape 217"/>
          <p:cNvSpPr/>
          <p:nvPr/>
        </p:nvSpPr>
        <p:spPr>
          <a:xfrm>
            <a:off x="8028432" y="4462272"/>
            <a:ext cx="9144" cy="91440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220" name="Shape 218"/>
          <p:cNvSpPr/>
          <p:nvPr/>
        </p:nvSpPr>
        <p:spPr>
          <a:xfrm>
            <a:off x="8028432" y="5120640"/>
            <a:ext cx="9144" cy="91440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221" name="Shape 219"/>
          <p:cNvSpPr/>
          <p:nvPr/>
        </p:nvSpPr>
        <p:spPr>
          <a:xfrm>
            <a:off x="8028432" y="5779008"/>
            <a:ext cx="9144" cy="91440"/>
          </a:xfrm>
          <a:prstGeom prst="line">
            <a:avLst/>
          </a:prstGeom>
          <a:noFill/>
          <a:ln w="15240">
            <a:solidFill>
              <a:srgbClr val="1A6ED4"/>
            </a:solidFill>
            <a:prstDash val="solid"/>
            <a:headEnd type="none"/>
            <a:tailEnd type="triangle"/>
          </a:ln>
        </p:spPr>
      </p:sp>
      <p:sp>
        <p:nvSpPr>
          <p:cNvPr id="222" name="Shape 220"/>
          <p:cNvSpPr/>
          <p:nvPr/>
        </p:nvSpPr>
        <p:spPr>
          <a:xfrm>
            <a:off x="9637776" y="3639312"/>
            <a:ext cx="2359152" cy="3090672"/>
          </a:xfrm>
          <a:prstGeom prst="rect">
            <a:avLst/>
          </a:prstGeom>
          <a:solidFill>
            <a:srgbClr val="030C10"/>
          </a:solidFill>
          <a:ln w="12700">
            <a:solidFill>
              <a:srgbClr val="15A57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10928" y="3657600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D399"/>
                </a:solidFill>
              </a:rPr>
              <a:t>JOB 3 — Feedback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9692640" y="3895344"/>
            <a:ext cx="2194560" cy="566928"/>
          </a:xfrm>
          <a:prstGeom prst="rect">
            <a:avLst/>
          </a:prstGeom>
          <a:solidFill>
            <a:srgbClr val="020C10"/>
          </a:solidFill>
          <a:ln w="7620">
            <a:solidFill>
              <a:srgbClr val="15A57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5" name="Text 223"/>
          <p:cNvSpPr/>
          <p:nvPr/>
        </p:nvSpPr>
        <p:spPr>
          <a:xfrm>
            <a:off x="9747504" y="393192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4D399"/>
                </a:solidFill>
              </a:rPr>
              <a:t>Receive from Regulator</a:t>
            </a:r>
            <a:endParaRPr lang="en-US" sz="700" dirty="0"/>
          </a:p>
        </p:txBody>
      </p:sp>
      <p:sp>
        <p:nvSpPr>
          <p:cNvPr id="226" name="Text 224"/>
          <p:cNvSpPr/>
          <p:nvPr/>
        </p:nvSpPr>
        <p:spPr>
          <a:xfrm>
            <a:off x="9747504" y="4114800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A3820"/>
                </a:solidFill>
              </a:rPr>
              <a:t>HTTP webhook / SFTP poll</a:t>
            </a:r>
            <a:endParaRPr lang="en-US" sz="650" dirty="0"/>
          </a:p>
        </p:txBody>
      </p:sp>
      <p:sp>
        <p:nvSpPr>
          <p:cNvPr id="227" name="Text 225"/>
          <p:cNvSpPr/>
          <p:nvPr/>
        </p:nvSpPr>
        <p:spPr>
          <a:xfrm>
            <a:off x="9747504" y="4242816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A3820"/>
                </a:solidFill>
              </a:rPr>
              <a:t>parse ack · dedup · classify</a:t>
            </a:r>
            <a:endParaRPr lang="en-US" sz="650" dirty="0"/>
          </a:p>
        </p:txBody>
      </p:sp>
      <p:sp>
        <p:nvSpPr>
          <p:cNvPr id="228" name="Shape 226"/>
          <p:cNvSpPr/>
          <p:nvPr/>
        </p:nvSpPr>
        <p:spPr>
          <a:xfrm>
            <a:off x="9692640" y="4535424"/>
            <a:ext cx="2194560" cy="566928"/>
          </a:xfrm>
          <a:prstGeom prst="rect">
            <a:avLst/>
          </a:prstGeom>
          <a:solidFill>
            <a:srgbClr val="020C10"/>
          </a:solidFill>
          <a:ln w="7620">
            <a:solidFill>
              <a:srgbClr val="15A57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9747504" y="457200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4D399"/>
                </a:solidFill>
              </a:rPr>
              <a:t>Update Delta + DynamoDB</a:t>
            </a:r>
            <a:endParaRPr lang="en-US" sz="700" dirty="0"/>
          </a:p>
        </p:txBody>
      </p:sp>
      <p:sp>
        <p:nvSpPr>
          <p:cNvPr id="230" name="Text 228"/>
          <p:cNvSpPr/>
          <p:nvPr/>
        </p:nvSpPr>
        <p:spPr>
          <a:xfrm>
            <a:off x="9747504" y="4754880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A3820"/>
                </a:solidFill>
              </a:rPr>
              <a:t>gold.regulator_acks</a:t>
            </a:r>
            <a:endParaRPr lang="en-US" sz="650" dirty="0"/>
          </a:p>
        </p:txBody>
      </p:sp>
      <p:sp>
        <p:nvSpPr>
          <p:cNvPr id="231" name="Text 229"/>
          <p:cNvSpPr/>
          <p:nvPr/>
        </p:nvSpPr>
        <p:spPr>
          <a:xfrm>
            <a:off x="9747504" y="4882896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A3820"/>
                </a:solidFill>
              </a:rPr>
              <a:t>gold.submissions_audit</a:t>
            </a:r>
            <a:endParaRPr lang="en-US" sz="650" dirty="0"/>
          </a:p>
        </p:txBody>
      </p:sp>
      <p:sp>
        <p:nvSpPr>
          <p:cNvPr id="232" name="Text 230"/>
          <p:cNvSpPr/>
          <p:nvPr/>
        </p:nvSpPr>
        <p:spPr>
          <a:xfrm>
            <a:off x="9747504" y="5010912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A3820"/>
                </a:solidFill>
              </a:rPr>
              <a:t>DynamoDB: ACKED/REJECTED</a:t>
            </a:r>
            <a:endParaRPr lang="en-US" sz="650" dirty="0"/>
          </a:p>
        </p:txBody>
      </p:sp>
      <p:sp>
        <p:nvSpPr>
          <p:cNvPr id="233" name="Shape 231"/>
          <p:cNvSpPr/>
          <p:nvPr/>
        </p:nvSpPr>
        <p:spPr>
          <a:xfrm>
            <a:off x="9692640" y="5175504"/>
            <a:ext cx="2194560" cy="402336"/>
          </a:xfrm>
          <a:prstGeom prst="rect">
            <a:avLst/>
          </a:prstGeom>
          <a:solidFill>
            <a:srgbClr val="020C10"/>
          </a:solidFill>
          <a:ln w="7620">
            <a:solidFill>
              <a:srgbClr val="15A57A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4" name="Text 232"/>
          <p:cNvSpPr/>
          <p:nvPr/>
        </p:nvSpPr>
        <p:spPr>
          <a:xfrm>
            <a:off x="9747504" y="5212080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BB724"/>
                </a:solidFill>
              </a:rPr>
              <a:t>REJECT → resubmit flag</a:t>
            </a:r>
            <a:endParaRPr lang="en-US" sz="700" dirty="0"/>
          </a:p>
        </p:txBody>
      </p:sp>
      <p:sp>
        <p:nvSpPr>
          <p:cNvPr id="235" name="Text 233"/>
          <p:cNvSpPr/>
          <p:nvPr/>
        </p:nvSpPr>
        <p:spPr>
          <a:xfrm>
            <a:off x="9747504" y="5376672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7A5010"/>
                </a:solidFill>
              </a:rPr>
              <a:t>Job 2 picks up next run</a:t>
            </a:r>
            <a:endParaRPr lang="en-US" sz="650" dirty="0"/>
          </a:p>
        </p:txBody>
      </p:sp>
      <p:sp>
        <p:nvSpPr>
          <p:cNvPr id="236" name="Shape 234"/>
          <p:cNvSpPr/>
          <p:nvPr/>
        </p:nvSpPr>
        <p:spPr>
          <a:xfrm>
            <a:off x="9692640" y="5650992"/>
            <a:ext cx="2194560" cy="329184"/>
          </a:xfrm>
          <a:prstGeom prst="rect">
            <a:avLst/>
          </a:prstGeom>
          <a:solidFill>
            <a:srgbClr val="020C10"/>
          </a:solidFill>
          <a:ln w="7620">
            <a:solidFill>
              <a:srgbClr val="0E7490"/>
            </a:solidFill>
            <a:prstDash val="solid"/>
          </a:ln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7" name="Text 235"/>
          <p:cNvSpPr/>
          <p:nvPr/>
        </p:nvSpPr>
        <p:spPr>
          <a:xfrm>
            <a:off x="9747504" y="5687568"/>
            <a:ext cx="20848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22D3EE"/>
                </a:solidFill>
              </a:rPr>
              <a:t>Lakebase Postgres sync</a:t>
            </a:r>
            <a:endParaRPr lang="en-US" sz="650" dirty="0"/>
          </a:p>
        </p:txBody>
      </p:sp>
      <p:sp>
        <p:nvSpPr>
          <p:cNvPr id="238" name="Text 236"/>
          <p:cNvSpPr/>
          <p:nvPr/>
        </p:nvSpPr>
        <p:spPr>
          <a:xfrm>
            <a:off x="9747504" y="5833872"/>
            <a:ext cx="2084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A3840"/>
                </a:solidFill>
              </a:rPr>
              <a:t>7-yr compliance audit trail</a:t>
            </a:r>
            <a:endParaRPr lang="en-US" sz="650" dirty="0"/>
          </a:p>
        </p:txBody>
      </p:sp>
      <p:sp>
        <p:nvSpPr>
          <p:cNvPr id="239" name="Shape 237"/>
          <p:cNvSpPr/>
          <p:nvPr/>
        </p:nvSpPr>
        <p:spPr>
          <a:xfrm>
            <a:off x="9601200" y="4818888"/>
            <a:ext cx="36576" cy="9144"/>
          </a:xfrm>
          <a:prstGeom prst="line">
            <a:avLst/>
          </a:prstGeom>
          <a:noFill/>
          <a:ln w="15240">
            <a:solidFill>
              <a:srgbClr val="15A57A"/>
            </a:solidFill>
            <a:prstDash val="solid"/>
            <a:headEnd type="none"/>
            <a:tailEnd type="triangle"/>
          </a:ln>
        </p:spPr>
      </p:sp>
      <p:sp>
        <p:nvSpPr>
          <p:cNvPr id="240" name="Shape 238"/>
          <p:cNvSpPr/>
          <p:nvPr/>
        </p:nvSpPr>
        <p:spPr>
          <a:xfrm>
            <a:off x="8631936" y="5029200"/>
            <a:ext cx="1005840" cy="0"/>
          </a:xfrm>
          <a:prstGeom prst="line">
            <a:avLst/>
          </a:prstGeom>
          <a:noFill/>
          <a:ln w="10160">
            <a:solidFill>
              <a:srgbClr val="DC2626"/>
            </a:solidFill>
            <a:prstDash val="dash"/>
            <a:tailEnd type="triangle"/>
          </a:ln>
        </p:spPr>
      </p:sp>
      <p:sp>
        <p:nvSpPr>
          <p:cNvPr id="241" name="Text 239"/>
          <p:cNvSpPr/>
          <p:nvPr/>
        </p:nvSpPr>
        <p:spPr>
          <a:xfrm>
            <a:off x="8631936" y="508406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DC2626"/>
                </a:solidFill>
              </a:rPr>
              <a:t>→ Regulator → ack/reject</a:t>
            </a:r>
            <a:endParaRPr lang="en-US" sz="550" dirty="0"/>
          </a:p>
        </p:txBody>
      </p:sp>
      <p:sp>
        <p:nvSpPr>
          <p:cNvPr id="242" name="Shape 240"/>
          <p:cNvSpPr/>
          <p:nvPr/>
        </p:nvSpPr>
        <p:spPr>
          <a:xfrm>
            <a:off x="9546336" y="5029200"/>
            <a:ext cx="9144" cy="9144"/>
          </a:xfrm>
          <a:prstGeom prst="line">
            <a:avLst/>
          </a:prstGeom>
          <a:noFill/>
          <a:ln w="15240">
            <a:solidFill>
              <a:srgbClr val="DC2626"/>
            </a:solidFill>
            <a:prstDash val="dash"/>
            <a:headEnd type="none"/>
            <a:tailEnd type="triangle"/>
          </a:ln>
        </p:spPr>
      </p:sp>
      <p:sp>
        <p:nvSpPr>
          <p:cNvPr id="243" name="Shape 241"/>
          <p:cNvSpPr/>
          <p:nvPr/>
        </p:nvSpPr>
        <p:spPr>
          <a:xfrm>
            <a:off x="109728" y="6565392"/>
            <a:ext cx="11942064" cy="237744"/>
          </a:xfrm>
          <a:prstGeom prst="rect">
            <a:avLst/>
          </a:prstGeom>
          <a:solidFill>
            <a:srgbClr val="08090E"/>
          </a:solidFill>
          <a:ln w="6350">
            <a:solidFill>
              <a:srgbClr val="1A2848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201168" y="6583680"/>
            <a:ext cx="1179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5A6A9A"/>
                </a:solidFill>
              </a:rPr>
              <a:t>Delta Sharing: AWS Gold tables shared to GCP (read-only, no copy)  ·  Redis ElastiCache for hot lookups  ·  StreamingQueryListener → metrics-stream Kafka → Prometheus / Grafana / PagerDuty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</Words>
  <Application>Microsoft Office PowerPoint</Application>
  <PresentationFormat>Widescreen</PresentationFormat>
  <Paragraphs>145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Courier New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 Reporting — RTM &amp; Batch DFD</dc:title>
  <dc:subject>PptxGenJS Presentation</dc:subject>
  <dc:creator>PptxGenJS</dc:creator>
  <cp:lastModifiedBy>Arul Samuel</cp:lastModifiedBy>
  <cp:revision>1</cp:revision>
  <dcterms:created xsi:type="dcterms:W3CDTF">2026-04-20T05:43:35Z</dcterms:created>
  <dcterms:modified xsi:type="dcterms:W3CDTF">2026-04-20T05:52:47Z</dcterms:modified>
</cp:coreProperties>
</file>